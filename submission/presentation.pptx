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Slab"/>
      <p:regular r:id="rId16"/>
      <p:bold r:id="rId17"/>
    </p:embeddedFont>
    <p:embeddedFont>
      <p:font typeface="Roboto"/>
      <p:regular r:id="rId18"/>
      <p:bold r:id="rId19"/>
      <p:italic r:id="rId20"/>
      <p:boldItalic r:id="rId21"/>
    </p:embeddedFont>
    <p:embeddedFont>
      <p:font typeface="Roboto Mon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RobotoMono-regular.fntdata"/><Relationship Id="rId21" Type="http://schemas.openxmlformats.org/officeDocument/2006/relationships/font" Target="fonts/Roboto-boldItalic.fntdata"/><Relationship Id="rId24" Type="http://schemas.openxmlformats.org/officeDocument/2006/relationships/font" Target="fonts/RobotoMono-italic.fntdata"/><Relationship Id="rId23" Type="http://schemas.openxmlformats.org/officeDocument/2006/relationships/font" Target="fonts/RobotoMon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Slab-bold.fntdata"/><Relationship Id="rId16" Type="http://schemas.openxmlformats.org/officeDocument/2006/relationships/font" Target="fonts/RobotoSlab-regular.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c6f75fc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c6f75fc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afternoon everyone my name is Ryan Powers and Id like to present my 266 Final Project</a:t>
            </a:r>
            <a:endParaRPr/>
          </a:p>
          <a:p>
            <a:pPr indent="0" lvl="0" marL="0" rtl="0" algn="l">
              <a:spcBef>
                <a:spcPts val="0"/>
              </a:spcBef>
              <a:spcAft>
                <a:spcPts val="0"/>
              </a:spcAft>
              <a:buNone/>
            </a:pPr>
            <a:r>
              <a:rPr lang="en"/>
              <a:t>‘ When Metrics say yes but humans say no</a:t>
            </a:r>
            <a:endParaRPr/>
          </a:p>
          <a:p>
            <a:pPr indent="0" lvl="0" marL="0" rtl="0" algn="l">
              <a:spcBef>
                <a:spcPts val="0"/>
              </a:spcBef>
              <a:spcAft>
                <a:spcPts val="0"/>
              </a:spcAft>
              <a:buNone/>
            </a:pPr>
            <a:r>
              <a:rPr lang="en"/>
              <a:t>A case study of Hallucination Reduction for Factual Summarization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c6f75fceb_0_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c6f75fce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Very quickly define each actor:</a:t>
            </a:r>
            <a:endParaRPr/>
          </a:p>
          <a:p>
            <a:pPr indent="-298450" lvl="0" marL="457200" rtl="0" algn="l">
              <a:lnSpc>
                <a:spcPct val="115000"/>
              </a:lnSpc>
              <a:spcBef>
                <a:spcPts val="1200"/>
              </a:spcBef>
              <a:spcAft>
                <a:spcPts val="0"/>
              </a:spcAft>
              <a:buClr>
                <a:schemeClr val="dk1"/>
              </a:buClr>
              <a:buSzPts val="1100"/>
              <a:buChar char="●"/>
            </a:pPr>
            <a:r>
              <a:rPr lang="en"/>
              <a:t>“Generator: BART‑base summarizer we fine‑tune.”</a:t>
            </a:r>
            <a:endParaRPr/>
          </a:p>
          <a:p>
            <a:pPr indent="-298450" lvl="0" marL="457200" rtl="0" algn="l">
              <a:lnSpc>
                <a:spcPct val="115000"/>
              </a:lnSpc>
              <a:spcBef>
                <a:spcPts val="0"/>
              </a:spcBef>
              <a:spcAft>
                <a:spcPts val="0"/>
              </a:spcAft>
              <a:buClr>
                <a:schemeClr val="dk1"/>
              </a:buClr>
              <a:buSzPts val="1100"/>
              <a:buChar char="●"/>
            </a:pPr>
            <a:r>
              <a:rPr lang="en"/>
              <a:t>“Verifier: FactCC, a specialized factuality model.”</a:t>
            </a:r>
            <a:endParaRPr/>
          </a:p>
          <a:p>
            <a:pPr indent="-298450" lvl="0" marL="457200" rtl="0" algn="l">
              <a:lnSpc>
                <a:spcPct val="115000"/>
              </a:lnSpc>
              <a:spcBef>
                <a:spcPts val="0"/>
              </a:spcBef>
              <a:spcAft>
                <a:spcPts val="0"/>
              </a:spcAft>
              <a:buClr>
                <a:schemeClr val="dk1"/>
              </a:buClr>
              <a:buSzPts val="1100"/>
              <a:buChar char="●"/>
            </a:pPr>
            <a:r>
              <a:rPr lang="en"/>
              <a:t>“World: CNN/DailyMail news dataset.”</a:t>
            </a:r>
            <a:endParaRPr/>
          </a:p>
          <a:p>
            <a:pPr indent="-298450" lvl="0" marL="457200" rtl="0" algn="l">
              <a:lnSpc>
                <a:spcPct val="115000"/>
              </a:lnSpc>
              <a:spcBef>
                <a:spcPts val="0"/>
              </a:spcBef>
              <a:spcAft>
                <a:spcPts val="0"/>
              </a:spcAft>
              <a:buClr>
                <a:schemeClr val="dk1"/>
              </a:buClr>
              <a:buSzPts val="1100"/>
              <a:buChar char="●"/>
            </a:pPr>
            <a:r>
              <a:rPr lang="en"/>
              <a:t>“Judge: me as a human annotator, doing a small but careful audit.”</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6f75fc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6f75fc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i="1" lang="en" sz="1050">
                <a:solidFill>
                  <a:srgbClr val="0E0E0E"/>
                </a:solidFill>
              </a:rPr>
              <a:t>I fine‑tuned BART‑base on CNN/DailyMail and got good ROUGE, but also classic hallucinations: wrong entities, wrong numbers, unsupported claims. The question I asked is: can I fix this cheaply at inference time, by generating several summaries and letting a verifier pick the best one?”</a:t>
            </a:r>
            <a:endParaRPr i="1" sz="1050">
              <a:solidFill>
                <a:srgbClr val="0E0E0E"/>
              </a:solidFill>
            </a:endParaRPr>
          </a:p>
          <a:p>
            <a:pPr indent="0" lvl="0" marL="0" rtl="0" algn="l">
              <a:spcBef>
                <a:spcPts val="0"/>
              </a:spcBef>
              <a:spcAft>
                <a:spcPts val="0"/>
              </a:spcAft>
              <a:buNone/>
            </a:pPr>
            <a:r>
              <a:t/>
            </a:r>
            <a:endParaRPr/>
          </a:p>
          <a:p>
            <a:pPr indent="0" lvl="0" marL="139700" rtl="0" algn="l">
              <a:lnSpc>
                <a:spcPct val="115000"/>
              </a:lnSpc>
              <a:spcBef>
                <a:spcPts val="0"/>
              </a:spcBef>
              <a:spcAft>
                <a:spcPts val="0"/>
              </a:spcAft>
              <a:buClr>
                <a:schemeClr val="dk1"/>
              </a:buClr>
              <a:buSzPts val="1100"/>
              <a:buFont typeface="Arial"/>
              <a:buNone/>
            </a:pPr>
            <a:r>
              <a:rPr i="1" lang="en" sz="1050">
                <a:solidFill>
                  <a:srgbClr val="0E0E0E"/>
                </a:solidFill>
              </a:rPr>
              <a:t>“I fine‑tuned BART‑base on 20k CNN/DailyMail examples and evaluated on the full 11,490‑example test set. The baseline gets ROUGE‑L 28.09 and a FactCC score of 0.427, which matches what prior work reports on this dataset. So I have a solid starting point, but no explicit factuality control.”</a:t>
            </a:r>
            <a:endParaRPr i="1" sz="1050">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6f75fce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6f75fce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i="1" lang="en" sz="1050">
                <a:solidFill>
                  <a:srgbClr val="0E0E0E"/>
                </a:solidFill>
              </a:rPr>
              <a:t>For each article, I generate K=5 summaries with beam search. Then I treat the original article as the premise and the summary as the hypothesis. FactCC gives me </a:t>
            </a:r>
            <a:r>
              <a:rPr lang="en" sz="1050">
                <a:solidFill>
                  <a:srgbClr val="0E0E0E"/>
                </a:solidFill>
              </a:rPr>
              <a:t>P(\text{Consistent} \mid a, c)</a:t>
            </a:r>
            <a:r>
              <a:rPr i="1" lang="en" sz="1050">
                <a:solidFill>
                  <a:srgbClr val="0E0E0E"/>
                </a:solidFill>
              </a:rPr>
              <a:t>; RoBERTa‑MNLI gives </a:t>
            </a:r>
            <a:r>
              <a:rPr lang="en" sz="1050">
                <a:solidFill>
                  <a:srgbClr val="0E0E0E"/>
                </a:solidFill>
              </a:rPr>
              <a:t>P(\text{Entailment} \mid a, c)</a:t>
            </a:r>
            <a:r>
              <a:rPr i="1" lang="en" sz="1050">
                <a:solidFill>
                  <a:srgbClr val="0E0E0E"/>
                </a:solidFill>
              </a:rPr>
              <a:t>. My reranker simply chooses the candidate with the highest FactCC score. The idea is: BART already produces a mix of better and worse candidates—so can a verifier reliably pick the better one?”</a:t>
            </a:r>
            <a:endParaRPr i="1" sz="1050">
              <a:solidFill>
                <a:srgbClr val="0E0E0E"/>
              </a:solidFill>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Our hypothesis was that by generating K=5 diverse candidates via beam search and selecting the one with the highest FactCC score, we could improve factuality without retraining the summarizer. This approach is motivated by the observation that BART's beam search often produces candidates with varying factual accuracy, even when they have similar likelihood scores."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Generator (BART):</a:t>
            </a:r>
            <a:r>
              <a:rPr lang="en">
                <a:solidFill>
                  <a:schemeClr val="dk1"/>
                </a:solidFill>
              </a:rPr>
              <a:t> You </a:t>
            </a:r>
            <a:r>
              <a:rPr b="1" lang="en">
                <a:solidFill>
                  <a:schemeClr val="dk1"/>
                </a:solidFill>
              </a:rPr>
              <a:t>Fine-tuned</a:t>
            </a:r>
            <a:r>
              <a:rPr lang="en">
                <a:solidFill>
                  <a:schemeClr val="dk1"/>
                </a:solidFill>
              </a:rPr>
              <a:t> this on CNN/DailyMail.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Verifier (FactCC):</a:t>
            </a:r>
            <a:r>
              <a:rPr lang="en">
                <a:solidFill>
                  <a:schemeClr val="dk1"/>
                </a:solidFill>
              </a:rPr>
              <a:t> You used the </a:t>
            </a:r>
            <a:r>
              <a:rPr b="1" lang="en">
                <a:solidFill>
                  <a:schemeClr val="dk1"/>
                </a:solidFill>
              </a:rPr>
              <a:t>Pre-trained</a:t>
            </a:r>
            <a:r>
              <a:rPr lang="en">
                <a:solidFill>
                  <a:schemeClr val="dk1"/>
                </a:solidFill>
              </a:rPr>
              <a:t> version (</a:t>
            </a:r>
            <a:r>
              <a:rPr lang="en">
                <a:solidFill>
                  <a:srgbClr val="188038"/>
                </a:solidFill>
                <a:latin typeface="Roboto Mono"/>
                <a:ea typeface="Roboto Mono"/>
                <a:cs typeface="Roboto Mono"/>
                <a:sym typeface="Roboto Mono"/>
              </a:rPr>
              <a:t>manueldeprada/FactCC</a:t>
            </a:r>
            <a:r>
              <a:rPr lang="en">
                <a:solidFill>
                  <a:schemeClr val="dk1"/>
                </a:solidFill>
              </a:rPr>
              <a:t>) directly from Hugging Face. You did </a:t>
            </a:r>
            <a:r>
              <a:rPr b="1" lang="en">
                <a:solidFill>
                  <a:schemeClr val="dk1"/>
                </a:solidFill>
              </a:rPr>
              <a:t>not</a:t>
            </a:r>
            <a:r>
              <a:rPr lang="en">
                <a:solidFill>
                  <a:schemeClr val="dk1"/>
                </a:solidFill>
              </a:rPr>
              <a:t> fine-tune FactCC on your own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this matters:</a:t>
            </a:r>
            <a:r>
              <a:rPr lang="en">
                <a:solidFill>
                  <a:schemeClr val="dk1"/>
                </a:solidFill>
              </a:rPr>
              <a:t> You tested an "Off-the-Shelf" verifier. You asked: </a:t>
            </a:r>
            <a:r>
              <a:rPr i="1" lang="en">
                <a:solidFill>
                  <a:schemeClr val="dk1"/>
                </a:solidFill>
              </a:rPr>
              <a:t>"Can I just download this standard fact-checker and use it to fix my model's errors?"</a:t>
            </a:r>
            <a:r>
              <a:rPr lang="en">
                <a:solidFill>
                  <a:schemeClr val="dk1"/>
                </a:solidFill>
              </a:rPr>
              <a:t> The answer turned out to be "No, not reliably."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daaed76d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daaed76d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 Implementation: The pipeline using Hugging Face Transformers (Wolf et al., 2020), Datasets (Lhoest et al., 2021), and Evaluate (von Platen et al., 2022). All experiments were run with a fixed random seed (42) for reproducibility. Code and configuration files are available in our repository.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5.3 Lead Bias and Metric–Human Disconnect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CNN/DailyMail has a strong </a:t>
            </a:r>
            <a:r>
              <a:rPr b="1" lang="en">
                <a:solidFill>
                  <a:schemeClr val="dk1"/>
                </a:solidFill>
              </a:rPr>
              <a:t>inverted pyramid</a:t>
            </a:r>
            <a:r>
              <a:rPr lang="en">
                <a:solidFill>
                  <a:schemeClr val="dk1"/>
                </a:solidFill>
              </a:rPr>
              <a:t> structure, where early sentences often summarize the main story. Extractive baselines like </a:t>
            </a:r>
            <a:r>
              <a:rPr b="1" lang="en">
                <a:solidFill>
                  <a:schemeClr val="dk1"/>
                </a:solidFill>
              </a:rPr>
              <a:t>LEAD-3</a:t>
            </a:r>
            <a:r>
              <a:rPr lang="en">
                <a:solidFill>
                  <a:schemeClr val="dk1"/>
                </a:solidFill>
              </a:rPr>
              <a:t> achieve ROUGE-L = 24.91, only 3.18 points below my fine-tuned BART baseline (28.09). This structural bias interacts with FactCC:</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FactCC tends to favor </a:t>
            </a:r>
            <a:r>
              <a:rPr b="1" lang="en">
                <a:solidFill>
                  <a:schemeClr val="dk1"/>
                </a:solidFill>
              </a:rPr>
              <a:t>extractive candidates</a:t>
            </a:r>
            <a:r>
              <a:rPr lang="en">
                <a:solidFill>
                  <a:schemeClr val="dk1"/>
                </a:solidFill>
              </a:rPr>
              <a:t> that closely mirror the lead sentences.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can </a:t>
            </a:r>
            <a:r>
              <a:rPr b="1" lang="en">
                <a:solidFill>
                  <a:schemeClr val="dk1"/>
                </a:solidFill>
              </a:rPr>
              <a:t>inflate factuality scores</a:t>
            </a:r>
            <a:r>
              <a:rPr lang="en">
                <a:solidFill>
                  <a:schemeClr val="dk1"/>
                </a:solidFill>
              </a:rPr>
              <a:t> even when the selected summary is less informative or less well-structured than more abstractive alternatives.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In several examples, FactCC assigns higher scores to “safe but boring” candidates that copy the first sentences verbatim, while humans prefer slightly more abstractive but still faithful variants.</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e48d1249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e48d1249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c6f75fceb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c6f75fce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i="1" lang="en" sz="1050">
                <a:solidFill>
                  <a:srgbClr val="0E0E0E"/>
                </a:solidFill>
              </a:rPr>
              <a:t>When I looked at what humans actually prefer, the story flipped. In 54% of cases, both summaries were basically equally good or equally bad. But when annotating 50 examples where baseline and reranked summaries differed, the baseline was preferred  28% of the time and the reranked only 18%. I also tracked hallucination errors and found that the reranker fixes 1 and introduces 3, for a net negative effect. This is the core result: FactCC says ‘+55% better’, but human auditing say ‘−10 points’.”</a:t>
            </a:r>
            <a:endParaRPr i="1" sz="1050">
              <a:solidFill>
                <a:srgbClr val="0E0E0E"/>
              </a:solidFill>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solidFill>
                  <a:schemeClr val="dk1"/>
                </a:solidFill>
              </a:rPr>
              <a:t>We didn't just pick 50 random examples, because 80% of the time the model output is identical. That would be a waste of time. Instead, we used a </a:t>
            </a:r>
            <a:r>
              <a:rPr b="1" lang="en">
                <a:solidFill>
                  <a:schemeClr val="dk1"/>
                </a:solidFill>
              </a:rPr>
              <a:t>Stratified Sampling Strategy</a:t>
            </a:r>
            <a:r>
              <a:rPr lang="en">
                <a:solidFill>
                  <a:schemeClr val="dk1"/>
                </a:solidFill>
              </a:rPr>
              <a:t>. We deliberately over-sampled cases where the Reranker disagreed with the Baseline (30 examples) to maximize our information gain, while keeping 20 'agreement' cases as a control group. This ensures our audit focuses on the actual impact of the intervention.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c6f75fce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c6f75fce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a:t>
            </a:r>
            <a:r>
              <a:rPr b="1" lang="en">
                <a:solidFill>
                  <a:schemeClr val="dk1"/>
                </a:solidFill>
              </a:rPr>
              <a:t>left</a:t>
            </a:r>
            <a:r>
              <a:rPr lang="en">
                <a:solidFill>
                  <a:schemeClr val="dk1"/>
                </a:solidFill>
              </a:rPr>
              <a:t>, we have a clear win. The original model wrote a confusing sentence implying a 'human chain' stopped the police from arresting people. The Reranker saw this didn't make sense and picked a better draft that correctly stated the chain stopped the </a:t>
            </a:r>
            <a:r>
              <a:rPr i="1" lang="en">
                <a:solidFill>
                  <a:schemeClr val="dk1"/>
                </a:solidFill>
              </a:rPr>
              <a:t>attackers</a:t>
            </a:r>
            <a:r>
              <a:rPr lang="en">
                <a:solidFill>
                  <a:schemeClr val="dk1"/>
                </a:solidFill>
              </a:rPr>
              <a:t>. This is what we want.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on the </a:t>
            </a:r>
            <a:r>
              <a:rPr b="1" lang="en">
                <a:solidFill>
                  <a:schemeClr val="dk1"/>
                </a:solidFill>
              </a:rPr>
              <a:t>right</a:t>
            </a:r>
            <a:r>
              <a:rPr lang="en">
                <a:solidFill>
                  <a:schemeClr val="dk1"/>
                </a:solidFill>
              </a:rPr>
              <a:t>, we see the danger. The original model wrote a boring, factual summary. The Reranker rejected it for a 'spicier' version that claimed the police 'asked the public for help.' That never happened. The model hallucinated a detail that </a:t>
            </a:r>
            <a:r>
              <a:rPr i="1" lang="en">
                <a:solidFill>
                  <a:schemeClr val="dk1"/>
                </a:solidFill>
              </a:rPr>
              <a:t>sounded</a:t>
            </a:r>
            <a:r>
              <a:rPr lang="en">
                <a:solidFill>
                  <a:schemeClr val="dk1"/>
                </a:solidFill>
              </a:rPr>
              <a:t> standard for a crime story, and the Reranker rewarded it. This proves the system prioritizes 'plausibility' over actual truth."</a:t>
            </a:r>
            <a:endParaRPr i="1" sz="1050">
              <a:solidFill>
                <a:srgbClr val="0E0E0E"/>
              </a:solidFill>
            </a:endParaRPr>
          </a:p>
          <a:p>
            <a:pPr indent="0" lvl="0" marL="0" rtl="0" algn="l">
              <a:spcBef>
                <a:spcPts val="1200"/>
              </a:spcBef>
              <a:spcAft>
                <a:spcPts val="0"/>
              </a:spcAft>
              <a:buNone/>
            </a:pPr>
            <a:r>
              <a:t/>
            </a:r>
            <a:endParaRPr/>
          </a:p>
          <a:p>
            <a:pPr indent="0" lvl="0" marL="0" rtl="0" algn="l">
              <a:spcBef>
                <a:spcPts val="0"/>
              </a:spcBef>
              <a:spcAft>
                <a:spcPts val="0"/>
              </a:spcAft>
              <a:buNone/>
            </a:pPr>
            <a:r>
              <a:rPr lang="en">
                <a:solidFill>
                  <a:schemeClr val="dk1"/>
                </a:solidFill>
              </a:rPr>
              <a:t>I used </a:t>
            </a:r>
            <a:r>
              <a:rPr b="1" lang="en">
                <a:solidFill>
                  <a:schemeClr val="dk1"/>
                </a:solidFill>
              </a:rPr>
              <a:t>FactCC</a:t>
            </a:r>
            <a:r>
              <a:rPr lang="en">
                <a:solidFill>
                  <a:schemeClr val="dk1"/>
                </a:solidFill>
              </a:rPr>
              <a:t> because it is specialized for catching summarization errors. I trained the writer (</a:t>
            </a:r>
            <a:r>
              <a:rPr b="1" lang="en">
                <a:solidFill>
                  <a:schemeClr val="dk1"/>
                </a:solidFill>
              </a:rPr>
              <a:t>BART</a:t>
            </a:r>
            <a:r>
              <a:rPr lang="en">
                <a:solidFill>
                  <a:schemeClr val="dk1"/>
                </a:solidFill>
              </a:rPr>
              <a:t>) using a </a:t>
            </a:r>
            <a:r>
              <a:rPr b="1" lang="en">
                <a:solidFill>
                  <a:schemeClr val="dk1"/>
                </a:solidFill>
              </a:rPr>
              <a:t>Loss Function</a:t>
            </a:r>
            <a:r>
              <a:rPr lang="en">
                <a:solidFill>
                  <a:schemeClr val="dk1"/>
                </a:solidFill>
              </a:rPr>
              <a:t> that rewards word prediction, which unfortunately allows for hallucinations. Attempting to fix this by generating 5 drafts and letting FactCC pick the best one. While the </a:t>
            </a:r>
            <a:r>
              <a:rPr b="1" lang="en">
                <a:solidFill>
                  <a:schemeClr val="dk1"/>
                </a:solidFill>
              </a:rPr>
              <a:t>Metric</a:t>
            </a:r>
            <a:r>
              <a:rPr lang="en">
                <a:solidFill>
                  <a:schemeClr val="dk1"/>
                </a:solidFill>
              </a:rPr>
              <a:t> (FactCC score) claimed success (+55%), the </a:t>
            </a:r>
            <a:r>
              <a:rPr b="1" lang="en">
                <a:solidFill>
                  <a:schemeClr val="dk1"/>
                </a:solidFill>
              </a:rPr>
              <a:t>Ground Truth</a:t>
            </a:r>
            <a:r>
              <a:rPr lang="en">
                <a:solidFill>
                  <a:schemeClr val="dk1"/>
                </a:solidFill>
              </a:rPr>
              <a:t> (my human audit) revealed the system was 'gaming' the metric—selecting safe, copy-paste summaries rather than genuinely better ones.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c6f75fce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c6f75fce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Motivated by the hallucination problem in abstractive summarization, as surveyed by Ji et al. (2023). Premitively selecting FactCC for its computational efficiency and demonstrated effectiveness on summarization tasks. Other projects expand beyond supervised verifier-reranking approach with zero-shot methods like **SelfCheckGPT** (Manakul et al., 2023) and unsupervised reranking (Ravaut et al., 2023). While **QAGS** (Wang et al., 2020) and **AlignScore** (Zha et al., 2023) represent alternative factuality metrics,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311150" lvl="0" marL="457200" rtl="0" algn="l">
              <a:lnSpc>
                <a:spcPct val="115000"/>
              </a:lnSpc>
              <a:spcBef>
                <a:spcPts val="1200"/>
              </a:spcBef>
              <a:spcAft>
                <a:spcPts val="0"/>
              </a:spcAft>
              <a:buClr>
                <a:schemeClr val="dk1"/>
              </a:buClr>
              <a:buSzPts val="1300"/>
              <a:buChar char="●"/>
            </a:pPr>
            <a:r>
              <a:t/>
            </a:r>
            <a:endParaRPr sz="1300">
              <a:solidFill>
                <a:schemeClr val="dk1"/>
              </a:solidFill>
            </a:endParaRPr>
          </a:p>
          <a:p>
            <a:pPr indent="0" lvl="0" marL="0" rtl="0" algn="l">
              <a:lnSpc>
                <a:spcPct val="115000"/>
              </a:lnSpc>
              <a:spcBef>
                <a:spcPts val="1200"/>
              </a:spcBef>
              <a:spcAft>
                <a:spcPts val="0"/>
              </a:spcAft>
              <a:buNone/>
            </a:pPr>
            <a:r>
              <a:rPr b="1" lang="en">
                <a:solidFill>
                  <a:schemeClr val="dk1"/>
                </a:solidFill>
              </a:rPr>
              <a:t>The Scientific Conclusion:</a:t>
            </a:r>
            <a:r>
              <a:rPr lang="en">
                <a:solidFill>
                  <a:schemeClr val="dk1"/>
                </a:solidFill>
              </a:rPr>
              <a:t> You proved that </a:t>
            </a:r>
            <a:r>
              <a:rPr b="1" lang="en">
                <a:solidFill>
                  <a:schemeClr val="dk1"/>
                </a:solidFill>
              </a:rPr>
              <a:t>optimizing for FactCC does NOT equal optimizing for Truth.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Metric:</a:t>
            </a:r>
            <a:r>
              <a:rPr lang="en">
                <a:solidFill>
                  <a:schemeClr val="dk1"/>
                </a:solidFill>
              </a:rPr>
              <a:t> FactCC went up (+55%).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Truth:</a:t>
            </a:r>
            <a:r>
              <a:rPr lang="en">
                <a:solidFill>
                  <a:schemeClr val="dk1"/>
                </a:solidFill>
              </a:rPr>
              <a:t> Human preference went down.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Summary Statement for Your Defense</a:t>
            </a:r>
            <a:endParaRPr b="1" sz="1300">
              <a:solidFill>
                <a:schemeClr val="dk1"/>
              </a:solidFill>
            </a:endParaRPr>
          </a:p>
          <a:p>
            <a:pPr indent="0" lvl="0" marL="0" rtl="0" algn="l">
              <a:lnSpc>
                <a:spcPct val="115000"/>
              </a:lnSpc>
              <a:spcBef>
                <a:spcPts val="1200"/>
              </a:spcBef>
              <a:spcAft>
                <a:spcPts val="0"/>
              </a:spcAft>
              <a:buNone/>
            </a:pPr>
            <a:r>
              <a:rPr lang="en">
                <a:solidFill>
                  <a:schemeClr val="dk1"/>
                </a:solidFill>
              </a:rPr>
              <a:t>"I attempted to </a:t>
            </a:r>
            <a:r>
              <a:rPr b="1" lang="en">
                <a:solidFill>
                  <a:schemeClr val="dk1"/>
                </a:solidFill>
              </a:rPr>
              <a:t>fix system output errors</a:t>
            </a:r>
            <a:r>
              <a:rPr lang="en">
                <a:solidFill>
                  <a:schemeClr val="dk1"/>
                </a:solidFill>
              </a:rPr>
              <a:t> by reranking candidates using a </a:t>
            </a:r>
            <a:r>
              <a:rPr b="1" lang="en">
                <a:solidFill>
                  <a:schemeClr val="dk1"/>
                </a:solidFill>
              </a:rPr>
              <a:t>pre-trained FactCC verifier</a:t>
            </a:r>
            <a:r>
              <a:rPr lang="en">
                <a:solidFill>
                  <a:schemeClr val="dk1"/>
                </a:solidFill>
              </a:rPr>
              <a:t>. My goal was to improve factuality without degrading ROUGE. While I successfully improved the FactCC score by 55%, my human audit revealed this was a 'false positive' improvement. The verifier prioritized </a:t>
            </a:r>
            <a:r>
              <a:rPr b="1" lang="en">
                <a:solidFill>
                  <a:schemeClr val="dk1"/>
                </a:solidFill>
              </a:rPr>
              <a:t>lexical overlap</a:t>
            </a:r>
            <a:r>
              <a:rPr lang="en">
                <a:solidFill>
                  <a:schemeClr val="dk1"/>
                </a:solidFill>
              </a:rPr>
              <a:t> over </a:t>
            </a:r>
            <a:r>
              <a:rPr b="1" lang="en">
                <a:solidFill>
                  <a:schemeClr val="dk1"/>
                </a:solidFill>
              </a:rPr>
              <a:t>semantic truth</a:t>
            </a:r>
            <a:r>
              <a:rPr lang="en">
                <a:solidFill>
                  <a:schemeClr val="dk1"/>
                </a:solidFill>
              </a:rPr>
              <a:t>, leading it to select 'safe' summaries that sometimes contained hallucinations, rather than genuinely factual ones.</a:t>
            </a:r>
            <a:endParaRPr>
              <a:solidFill>
                <a:schemeClr val="dk1"/>
              </a:solidFill>
            </a:endParaRPr>
          </a:p>
          <a:p>
            <a:pPr indent="0" lvl="0" marL="0" rtl="0" algn="l">
              <a:lnSpc>
                <a:spcPct val="115000"/>
              </a:lnSpc>
              <a:spcBef>
                <a:spcPts val="1200"/>
              </a:spcBef>
              <a:spcAft>
                <a:spcPts val="1200"/>
              </a:spcAft>
              <a:buNone/>
            </a:pPr>
            <a:r>
              <a:t/>
            </a:r>
            <a:endParaRPr sz="13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c6f75fce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c6f75fce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github.com/rPowDS/MIDS266-NLP-final-projec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When Metrics Say “Yes” But Humans Say “No”</a:t>
            </a:r>
            <a:endParaRPr/>
          </a:p>
        </p:txBody>
      </p:sp>
      <p:sp>
        <p:nvSpPr>
          <p:cNvPr id="64" name="Google Shape;64;p13"/>
          <p:cNvSpPr txBox="1"/>
          <p:nvPr>
            <p:ph idx="1" type="subTitle"/>
          </p:nvPr>
        </p:nvSpPr>
        <p:spPr>
          <a:xfrm>
            <a:off x="1480200" y="3049450"/>
            <a:ext cx="6172500" cy="138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Arial"/>
                <a:ea typeface="Arial"/>
                <a:cs typeface="Arial"/>
                <a:sym typeface="Arial"/>
              </a:rPr>
              <a:t>A Case Study of Hallucination Reduction for Factual Summarization</a:t>
            </a:r>
            <a:endParaRPr sz="1800">
              <a:latin typeface="Arial"/>
              <a:ea typeface="Arial"/>
              <a:cs typeface="Arial"/>
              <a:sym typeface="Arial"/>
            </a:endParaRPr>
          </a:p>
          <a:p>
            <a:pPr indent="0" lvl="0" marL="0" rtl="0" algn="ctr">
              <a:spcBef>
                <a:spcPts val="0"/>
              </a:spcBef>
              <a:spcAft>
                <a:spcPts val="0"/>
              </a:spcAft>
              <a:buNone/>
            </a:pPr>
            <a:r>
              <a:t/>
            </a:r>
            <a:endParaRPr sz="1800">
              <a:latin typeface="Arial"/>
              <a:ea typeface="Arial"/>
              <a:cs typeface="Arial"/>
              <a:sym typeface="Arial"/>
            </a:endParaRPr>
          </a:p>
          <a:p>
            <a:pPr indent="0" lvl="0" marL="0" rtl="0" algn="ctr">
              <a:spcBef>
                <a:spcPts val="0"/>
              </a:spcBef>
              <a:spcAft>
                <a:spcPts val="0"/>
              </a:spcAft>
              <a:buNone/>
            </a:pPr>
            <a:r>
              <a:rPr lang="en" sz="1500"/>
              <a:t>Author: Ryan Powers</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p:nvPr/>
        </p:nvSpPr>
        <p:spPr>
          <a:xfrm>
            <a:off x="0" y="0"/>
            <a:ext cx="9161100" cy="2484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txBox="1"/>
          <p:nvPr>
            <p:ph idx="4294967295"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accent1"/>
                </a:solidFill>
              </a:rPr>
              <a:t>Project</a:t>
            </a:r>
            <a:r>
              <a:rPr lang="en">
                <a:solidFill>
                  <a:schemeClr val="accent1"/>
                </a:solidFill>
              </a:rPr>
              <a:t> Characters</a:t>
            </a:r>
            <a:endParaRPr>
              <a:solidFill>
                <a:schemeClr val="accent1"/>
              </a:solidFill>
            </a:endParaRPr>
          </a:p>
        </p:txBody>
      </p:sp>
      <p:sp>
        <p:nvSpPr>
          <p:cNvPr id="71" name="Google Shape;71;p14"/>
          <p:cNvSpPr/>
          <p:nvPr/>
        </p:nvSpPr>
        <p:spPr>
          <a:xfrm>
            <a:off x="431500" y="1366425"/>
            <a:ext cx="1644300" cy="1644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txBox="1"/>
          <p:nvPr>
            <p:ph idx="4294967295" type="body"/>
          </p:nvPr>
        </p:nvSpPr>
        <p:spPr>
          <a:xfrm>
            <a:off x="164950"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000">
                <a:solidFill>
                  <a:schemeClr val="accent5"/>
                </a:solidFill>
              </a:rPr>
              <a:t>BART(Generator</a:t>
            </a:r>
            <a:r>
              <a:rPr lang="en" sz="2100">
                <a:solidFill>
                  <a:schemeClr val="accent5"/>
                </a:solidFill>
              </a:rPr>
              <a:t>)</a:t>
            </a:r>
            <a:endParaRPr sz="2100">
              <a:solidFill>
                <a:schemeClr val="accent5"/>
              </a:solidFill>
            </a:endParaRPr>
          </a:p>
        </p:txBody>
      </p:sp>
      <p:cxnSp>
        <p:nvCxnSpPr>
          <p:cNvPr id="73" name="Google Shape;73;p14"/>
          <p:cNvCxnSpPr/>
          <p:nvPr/>
        </p:nvCxnSpPr>
        <p:spPr>
          <a:xfrm>
            <a:off x="1118175" y="3613373"/>
            <a:ext cx="270900" cy="0"/>
          </a:xfrm>
          <a:prstGeom prst="straightConnector1">
            <a:avLst/>
          </a:prstGeom>
          <a:noFill/>
          <a:ln cap="flat" cmpd="sng" w="9525">
            <a:solidFill>
              <a:schemeClr val="lt2"/>
            </a:solidFill>
            <a:prstDash val="solid"/>
            <a:round/>
            <a:headEnd len="sm" w="sm" type="none"/>
            <a:tailEnd len="sm" w="sm" type="none"/>
          </a:ln>
        </p:spPr>
      </p:cxnSp>
      <p:sp>
        <p:nvSpPr>
          <p:cNvPr id="74" name="Google Shape;74;p14"/>
          <p:cNvSpPr txBox="1"/>
          <p:nvPr>
            <p:ph idx="4294967295" type="body"/>
          </p:nvPr>
        </p:nvSpPr>
        <p:spPr>
          <a:xfrm>
            <a:off x="164925" y="3776352"/>
            <a:ext cx="2177400" cy="10191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t>Fine‑tuned summarization model</a:t>
            </a:r>
            <a:endParaRPr sz="1700"/>
          </a:p>
        </p:txBody>
      </p:sp>
      <p:sp>
        <p:nvSpPr>
          <p:cNvPr id="75" name="Google Shape;75;p14"/>
          <p:cNvSpPr/>
          <p:nvPr/>
        </p:nvSpPr>
        <p:spPr>
          <a:xfrm>
            <a:off x="2649463" y="1351550"/>
            <a:ext cx="1644300" cy="1644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ph idx="4294967295" type="body"/>
          </p:nvPr>
        </p:nvSpPr>
        <p:spPr>
          <a:xfrm>
            <a:off x="2374559"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100">
                <a:solidFill>
                  <a:schemeClr val="accent5"/>
                </a:solidFill>
              </a:rPr>
              <a:t>FactCC(Verifier)</a:t>
            </a:r>
            <a:endParaRPr sz="2100">
              <a:solidFill>
                <a:schemeClr val="accent5"/>
              </a:solidFill>
            </a:endParaRPr>
          </a:p>
        </p:txBody>
      </p:sp>
      <p:cxnSp>
        <p:nvCxnSpPr>
          <p:cNvPr id="77" name="Google Shape;77;p14"/>
          <p:cNvCxnSpPr/>
          <p:nvPr/>
        </p:nvCxnSpPr>
        <p:spPr>
          <a:xfrm>
            <a:off x="3327800" y="3613373"/>
            <a:ext cx="270900" cy="0"/>
          </a:xfrm>
          <a:prstGeom prst="straightConnector1">
            <a:avLst/>
          </a:prstGeom>
          <a:noFill/>
          <a:ln cap="flat" cmpd="sng" w="9525">
            <a:solidFill>
              <a:schemeClr val="lt2"/>
            </a:solidFill>
            <a:prstDash val="solid"/>
            <a:round/>
            <a:headEnd len="sm" w="sm" type="none"/>
            <a:tailEnd len="sm" w="sm" type="none"/>
          </a:ln>
        </p:spPr>
      </p:cxnSp>
      <p:sp>
        <p:nvSpPr>
          <p:cNvPr id="78" name="Google Shape;78;p14"/>
          <p:cNvSpPr txBox="1"/>
          <p:nvPr>
            <p:ph idx="4294967295" type="body"/>
          </p:nvPr>
        </p:nvSpPr>
        <p:spPr>
          <a:xfrm>
            <a:off x="2374550" y="3776401"/>
            <a:ext cx="2177400" cy="10191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Classifier that scores article summary factual consistency.</a:t>
            </a:r>
            <a:endParaRPr sz="1600"/>
          </a:p>
        </p:txBody>
      </p:sp>
      <p:grpSp>
        <p:nvGrpSpPr>
          <p:cNvPr id="79" name="Google Shape;79;p14"/>
          <p:cNvGrpSpPr/>
          <p:nvPr/>
        </p:nvGrpSpPr>
        <p:grpSpPr>
          <a:xfrm>
            <a:off x="4867425" y="1366425"/>
            <a:ext cx="1644312" cy="1644300"/>
            <a:chOff x="4867413" y="1351550"/>
            <a:chExt cx="1644312" cy="1644300"/>
          </a:xfrm>
        </p:grpSpPr>
        <p:sp>
          <p:nvSpPr>
            <p:cNvPr id="80" name="Google Shape;80;p14"/>
            <p:cNvSpPr/>
            <p:nvPr/>
          </p:nvSpPr>
          <p:spPr>
            <a:xfrm>
              <a:off x="4867413" y="1351550"/>
              <a:ext cx="1644300" cy="1644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rtoonish illustration of a woman with orange hair" id="81" name="Google Shape;81;p14"/>
            <p:cNvPicPr preferRelativeResize="0"/>
            <p:nvPr/>
          </p:nvPicPr>
          <p:blipFill rotWithShape="1">
            <a:blip r:embed="rId3">
              <a:alphaModFix/>
            </a:blip>
            <a:srcRect b="-82937" l="-100065" r="90127" t="72999"/>
            <a:stretch/>
          </p:blipFill>
          <p:spPr>
            <a:xfrm>
              <a:off x="4867425" y="1351550"/>
              <a:ext cx="1644300" cy="1644300"/>
            </a:xfrm>
            <a:prstGeom prst="ellipse">
              <a:avLst/>
            </a:prstGeom>
            <a:noFill/>
            <a:ln>
              <a:noFill/>
            </a:ln>
          </p:spPr>
        </p:pic>
      </p:grpSp>
      <p:sp>
        <p:nvSpPr>
          <p:cNvPr id="82" name="Google Shape;82;p14"/>
          <p:cNvSpPr txBox="1"/>
          <p:nvPr>
            <p:ph idx="4294967295" type="body"/>
          </p:nvPr>
        </p:nvSpPr>
        <p:spPr>
          <a:xfrm>
            <a:off x="4584180"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100">
                <a:solidFill>
                  <a:schemeClr val="accent5"/>
                </a:solidFill>
              </a:rPr>
              <a:t>CNN/</a:t>
            </a:r>
            <a:r>
              <a:rPr lang="en" sz="2100">
                <a:solidFill>
                  <a:schemeClr val="accent5"/>
                </a:solidFill>
              </a:rPr>
              <a:t>Daily Mail</a:t>
            </a:r>
            <a:r>
              <a:rPr lang="en" sz="2100">
                <a:solidFill>
                  <a:schemeClr val="accent5"/>
                </a:solidFill>
              </a:rPr>
              <a:t> (Dataset)</a:t>
            </a:r>
            <a:endParaRPr sz="2100">
              <a:solidFill>
                <a:schemeClr val="accent5"/>
              </a:solidFill>
            </a:endParaRPr>
          </a:p>
        </p:txBody>
      </p:sp>
      <p:cxnSp>
        <p:nvCxnSpPr>
          <p:cNvPr id="83" name="Google Shape;83;p14"/>
          <p:cNvCxnSpPr/>
          <p:nvPr/>
        </p:nvCxnSpPr>
        <p:spPr>
          <a:xfrm>
            <a:off x="5554075" y="3613373"/>
            <a:ext cx="270900" cy="0"/>
          </a:xfrm>
          <a:prstGeom prst="straightConnector1">
            <a:avLst/>
          </a:prstGeom>
          <a:noFill/>
          <a:ln cap="flat" cmpd="sng" w="9525">
            <a:solidFill>
              <a:schemeClr val="lt2"/>
            </a:solidFill>
            <a:prstDash val="solid"/>
            <a:round/>
            <a:headEnd len="sm" w="sm" type="none"/>
            <a:tailEnd len="sm" w="sm" type="none"/>
          </a:ln>
        </p:spPr>
      </p:cxnSp>
      <p:sp>
        <p:nvSpPr>
          <p:cNvPr id="84" name="Google Shape;84;p14"/>
          <p:cNvSpPr txBox="1"/>
          <p:nvPr>
            <p:ph idx="4294967295" type="body"/>
          </p:nvPr>
        </p:nvSpPr>
        <p:spPr>
          <a:xfrm>
            <a:off x="4584175" y="4061875"/>
            <a:ext cx="2177400" cy="7335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News articles with highlight summaries</a:t>
            </a:r>
            <a:endParaRPr sz="1600"/>
          </a:p>
        </p:txBody>
      </p:sp>
      <p:sp>
        <p:nvSpPr>
          <p:cNvPr id="85" name="Google Shape;85;p14"/>
          <p:cNvSpPr/>
          <p:nvPr/>
        </p:nvSpPr>
        <p:spPr>
          <a:xfrm>
            <a:off x="7051975" y="1321550"/>
            <a:ext cx="1644300" cy="1719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txBox="1"/>
          <p:nvPr>
            <p:ph idx="4294967295" type="body"/>
          </p:nvPr>
        </p:nvSpPr>
        <p:spPr>
          <a:xfrm>
            <a:off x="6793801"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2100">
                <a:solidFill>
                  <a:schemeClr val="accent5"/>
                </a:solidFill>
              </a:rPr>
              <a:t>Single Human Annotator</a:t>
            </a:r>
            <a:endParaRPr sz="2100">
              <a:solidFill>
                <a:schemeClr val="accent5"/>
              </a:solidFill>
            </a:endParaRPr>
          </a:p>
        </p:txBody>
      </p:sp>
      <p:cxnSp>
        <p:nvCxnSpPr>
          <p:cNvPr id="87" name="Google Shape;87;p14"/>
          <p:cNvCxnSpPr/>
          <p:nvPr/>
        </p:nvCxnSpPr>
        <p:spPr>
          <a:xfrm>
            <a:off x="7747050" y="3613373"/>
            <a:ext cx="270900" cy="0"/>
          </a:xfrm>
          <a:prstGeom prst="straightConnector1">
            <a:avLst/>
          </a:prstGeom>
          <a:noFill/>
          <a:ln cap="flat" cmpd="sng" w="9525">
            <a:solidFill>
              <a:schemeClr val="lt2"/>
            </a:solidFill>
            <a:prstDash val="solid"/>
            <a:round/>
            <a:headEnd len="sm" w="sm" type="none"/>
            <a:tailEnd len="sm" w="sm" type="none"/>
          </a:ln>
        </p:spPr>
      </p:cxnSp>
      <p:sp>
        <p:nvSpPr>
          <p:cNvPr id="88" name="Google Shape;88;p14"/>
          <p:cNvSpPr txBox="1"/>
          <p:nvPr>
            <p:ph idx="4294967295" type="body"/>
          </p:nvPr>
        </p:nvSpPr>
        <p:spPr>
          <a:xfrm>
            <a:off x="6793800" y="4062050"/>
            <a:ext cx="2177400" cy="7335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t>Single rater doing a 50‑example audit.</a:t>
            </a:r>
            <a:endParaRPr sz="1700"/>
          </a:p>
        </p:txBody>
      </p:sp>
      <p:pic>
        <p:nvPicPr>
          <p:cNvPr id="89" name="Google Shape;89;p14" title="Screenshot 2025-12-07 at 11.02.22.png"/>
          <p:cNvPicPr preferRelativeResize="0"/>
          <p:nvPr/>
        </p:nvPicPr>
        <p:blipFill>
          <a:blip r:embed="rId4">
            <a:alphaModFix/>
          </a:blip>
          <a:stretch>
            <a:fillRect/>
          </a:stretch>
        </p:blipFill>
        <p:spPr>
          <a:xfrm>
            <a:off x="431500" y="1106000"/>
            <a:ext cx="1644300" cy="1934626"/>
          </a:xfrm>
          <a:prstGeom prst="rect">
            <a:avLst/>
          </a:prstGeom>
          <a:noFill/>
          <a:ln>
            <a:noFill/>
          </a:ln>
        </p:spPr>
      </p:pic>
      <p:pic>
        <p:nvPicPr>
          <p:cNvPr id="90" name="Google Shape;90;p14" title="Screenshot 2025-12-07 at 11.05.41.png"/>
          <p:cNvPicPr preferRelativeResize="0"/>
          <p:nvPr/>
        </p:nvPicPr>
        <p:blipFill>
          <a:blip r:embed="rId5">
            <a:alphaModFix/>
          </a:blip>
          <a:stretch>
            <a:fillRect/>
          </a:stretch>
        </p:blipFill>
        <p:spPr>
          <a:xfrm>
            <a:off x="2538650" y="1321550"/>
            <a:ext cx="1869699" cy="1719075"/>
          </a:xfrm>
          <a:prstGeom prst="rect">
            <a:avLst/>
          </a:prstGeom>
          <a:noFill/>
          <a:ln>
            <a:noFill/>
          </a:ln>
        </p:spPr>
      </p:pic>
      <p:pic>
        <p:nvPicPr>
          <p:cNvPr id="91" name="Google Shape;91;p14" title="Screenshot 2025-12-07 at 11.08.14.png"/>
          <p:cNvPicPr preferRelativeResize="0"/>
          <p:nvPr/>
        </p:nvPicPr>
        <p:blipFill>
          <a:blip r:embed="rId6">
            <a:alphaModFix/>
          </a:blip>
          <a:stretch>
            <a:fillRect/>
          </a:stretch>
        </p:blipFill>
        <p:spPr>
          <a:xfrm>
            <a:off x="4704875" y="1245550"/>
            <a:ext cx="1935975" cy="1795075"/>
          </a:xfrm>
          <a:prstGeom prst="rect">
            <a:avLst/>
          </a:prstGeom>
          <a:noFill/>
          <a:ln>
            <a:noFill/>
          </a:ln>
        </p:spPr>
      </p:pic>
      <p:pic>
        <p:nvPicPr>
          <p:cNvPr id="92" name="Google Shape;92;p14" title="Screenshot 2025-12-07 at 11.10.31.png"/>
          <p:cNvPicPr preferRelativeResize="0"/>
          <p:nvPr/>
        </p:nvPicPr>
        <p:blipFill>
          <a:blip r:embed="rId7">
            <a:alphaModFix/>
          </a:blip>
          <a:stretch>
            <a:fillRect/>
          </a:stretch>
        </p:blipFill>
        <p:spPr>
          <a:xfrm>
            <a:off x="6860075" y="1243100"/>
            <a:ext cx="1869699" cy="1795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idx="2" type="body"/>
          </p:nvPr>
        </p:nvSpPr>
        <p:spPr>
          <a:xfrm>
            <a:off x="4939500" y="611775"/>
            <a:ext cx="3837000" cy="4176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None/>
            </a:pPr>
            <a:r>
              <a:rPr b="1" lang="en"/>
              <a:t>Task</a:t>
            </a:r>
            <a:r>
              <a:rPr lang="en"/>
              <a:t>:</a:t>
            </a:r>
            <a:br>
              <a:rPr lang="en"/>
            </a:br>
            <a:r>
              <a:rPr lang="en"/>
              <a:t>CNN/DailyMail abstractive summarization (BART‑base)</a:t>
            </a:r>
            <a:endParaRPr/>
          </a:p>
          <a:p>
            <a:pPr indent="0" lvl="0" marL="0" rtl="0" algn="l">
              <a:spcBef>
                <a:spcPts val="1600"/>
              </a:spcBef>
              <a:spcAft>
                <a:spcPts val="0"/>
              </a:spcAft>
              <a:buClr>
                <a:schemeClr val="dk2"/>
              </a:buClr>
              <a:buSzPts val="1100"/>
              <a:buNone/>
            </a:pPr>
            <a:r>
              <a:rPr b="1" lang="en"/>
              <a:t>Problem</a:t>
            </a:r>
            <a:r>
              <a:rPr lang="en"/>
              <a:t>:</a:t>
            </a:r>
            <a:br>
              <a:rPr lang="en"/>
            </a:br>
            <a:r>
              <a:rPr lang="en"/>
              <a:t>S</a:t>
            </a:r>
            <a:r>
              <a:rPr lang="en"/>
              <a:t>ummaries are fluent but sometimes factually incorrect (hallucinations)</a:t>
            </a:r>
            <a:endParaRPr/>
          </a:p>
          <a:p>
            <a:pPr indent="0" lvl="0" marL="0" rtl="0" algn="l">
              <a:spcBef>
                <a:spcPts val="1600"/>
              </a:spcBef>
              <a:spcAft>
                <a:spcPts val="0"/>
              </a:spcAft>
              <a:buClr>
                <a:schemeClr val="dk2"/>
              </a:buClr>
              <a:buSzPts val="1100"/>
              <a:buNone/>
            </a:pPr>
            <a:r>
              <a:rPr b="1" lang="en"/>
              <a:t>Goal:</a:t>
            </a:r>
            <a:br>
              <a:rPr lang="en"/>
            </a:br>
            <a:r>
              <a:rPr lang="en">
                <a:latin typeface="Arial"/>
                <a:ea typeface="Arial"/>
                <a:cs typeface="Arial"/>
                <a:sym typeface="Arial"/>
              </a:rPr>
              <a:t>improve factual consistency </a:t>
            </a:r>
            <a:r>
              <a:rPr b="1" lang="en">
                <a:latin typeface="Arial"/>
                <a:ea typeface="Arial"/>
                <a:cs typeface="Arial"/>
                <a:sym typeface="Arial"/>
              </a:rPr>
              <a:t>without</a:t>
            </a:r>
            <a:r>
              <a:rPr lang="en">
                <a:latin typeface="Arial"/>
                <a:ea typeface="Arial"/>
                <a:cs typeface="Arial"/>
                <a:sym typeface="Arial"/>
              </a:rPr>
              <a:t> retraining a bigger model, use reranking instead.</a:t>
            </a:r>
            <a:endParaRPr>
              <a:latin typeface="Arial"/>
              <a:ea typeface="Arial"/>
              <a:cs typeface="Arial"/>
              <a:sym typeface="Arial"/>
            </a:endParaRPr>
          </a:p>
          <a:p>
            <a:pPr indent="0" lvl="0" marL="0" rtl="0" algn="l">
              <a:spcBef>
                <a:spcPts val="1600"/>
              </a:spcBef>
              <a:spcAft>
                <a:spcPts val="1600"/>
              </a:spcAft>
              <a:buClr>
                <a:schemeClr val="dk2"/>
              </a:buClr>
              <a:buSzPts val="1100"/>
              <a:buNone/>
            </a:pPr>
            <a:r>
              <a:t/>
            </a:r>
            <a:endParaRPr/>
          </a:p>
        </p:txBody>
      </p:sp>
      <p:sp>
        <p:nvSpPr>
          <p:cNvPr id="98" name="Google Shape;98;p15"/>
          <p:cNvSpPr txBox="1"/>
          <p:nvPr>
            <p:ph type="title"/>
          </p:nvPr>
        </p:nvSpPr>
        <p:spPr>
          <a:xfrm>
            <a:off x="276975" y="266275"/>
            <a:ext cx="4045200" cy="80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100"/>
              <a:t>Task/Problem/Goall</a:t>
            </a:r>
            <a:endParaRPr sz="3100"/>
          </a:p>
        </p:txBody>
      </p:sp>
      <p:pic>
        <p:nvPicPr>
          <p:cNvPr id="99" name="Google Shape;99;p15" title="Gemini_Generated_Image_sbwreysbwreysbwr.png"/>
          <p:cNvPicPr preferRelativeResize="0"/>
          <p:nvPr/>
        </p:nvPicPr>
        <p:blipFill>
          <a:blip r:embed="rId3">
            <a:alphaModFix/>
          </a:blip>
          <a:stretch>
            <a:fillRect/>
          </a:stretch>
        </p:blipFill>
        <p:spPr>
          <a:xfrm>
            <a:off x="276975" y="1119250"/>
            <a:ext cx="4045199" cy="1859425"/>
          </a:xfrm>
          <a:prstGeom prst="rect">
            <a:avLst/>
          </a:prstGeom>
          <a:noFill/>
          <a:ln>
            <a:noFill/>
          </a:ln>
        </p:spPr>
      </p:pic>
      <p:sp>
        <p:nvSpPr>
          <p:cNvPr id="100" name="Google Shape;100;p15"/>
          <p:cNvSpPr txBox="1"/>
          <p:nvPr/>
        </p:nvSpPr>
        <p:spPr>
          <a:xfrm>
            <a:off x="159050" y="3239775"/>
            <a:ext cx="4518900" cy="15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chemeClr val="dk1"/>
                </a:solidFill>
              </a:rPr>
              <a:t>Challenging the assumption that improving automatic metrics improves actual quality</a:t>
            </a:r>
            <a:r>
              <a:rPr i="1" lang="en">
                <a:solidFill>
                  <a:schemeClr val="dk1"/>
                </a:solidFill>
              </a:rPr>
              <a:t>.</a:t>
            </a:r>
            <a:endParaRPr i="1">
              <a:solidFill>
                <a:schemeClr val="dk1"/>
              </a:solidFill>
            </a:endParaRPr>
          </a:p>
          <a:p>
            <a:pPr indent="0" lvl="0" marL="0" rtl="0" algn="ctr">
              <a:spcBef>
                <a:spcPts val="0"/>
              </a:spcBef>
              <a:spcAft>
                <a:spcPts val="0"/>
              </a:spcAft>
              <a:buNone/>
            </a:pPr>
            <a:r>
              <a:t/>
            </a:r>
            <a:endParaRPr i="1">
              <a:solidFill>
                <a:schemeClr val="dk1"/>
              </a:solidFill>
            </a:endParaRPr>
          </a:p>
          <a:p>
            <a:pPr indent="0" lvl="0" marL="0" rtl="0" algn="l">
              <a:spcBef>
                <a:spcPts val="0"/>
              </a:spcBef>
              <a:spcAft>
                <a:spcPts val="0"/>
              </a:spcAft>
              <a:buNone/>
            </a:pPr>
            <a:r>
              <a:rPr lang="en" sz="1100">
                <a:solidFill>
                  <a:schemeClr val="dk1"/>
                </a:solidFill>
              </a:rPr>
              <a:t>Example: Article says 'Mayor announced $50M for transit' → Summary says 'Mayor cut transit funding</a:t>
            </a:r>
            <a:endParaRPr sz="11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i="1" lang="en" sz="1300">
                <a:solidFill>
                  <a:schemeClr val="dk1"/>
                </a:solidFill>
              </a:rPr>
              <a:t>Success Criteria: ΔFactCC ≥ +2.0, ROUGE-L drop ≤ 1.0</a:t>
            </a:r>
            <a:endParaRPr i="1" sz="16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250225" y="37770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Architecture Diagram (Generate → Verify)</a:t>
            </a:r>
            <a:endParaRPr/>
          </a:p>
        </p:txBody>
      </p:sp>
      <p:sp>
        <p:nvSpPr>
          <p:cNvPr id="106" name="Google Shape;106;p16"/>
          <p:cNvSpPr txBox="1"/>
          <p:nvPr>
            <p:ph idx="1" type="body"/>
          </p:nvPr>
        </p:nvSpPr>
        <p:spPr>
          <a:xfrm>
            <a:off x="544250" y="1332575"/>
            <a:ext cx="4027800" cy="345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Generate K=5 beam candidates with the fine‑tuned BART.</a:t>
            </a:r>
            <a:endParaRPr sz="1500"/>
          </a:p>
          <a:p>
            <a:pPr indent="0" lvl="0" marL="0" rtl="0" algn="l">
              <a:spcBef>
                <a:spcPts val="0"/>
              </a:spcBef>
              <a:spcAft>
                <a:spcPts val="0"/>
              </a:spcAft>
              <a:buNone/>
            </a:pPr>
            <a:r>
              <a:rPr lang="en" sz="1500"/>
              <a:t>Score each candidate with:</a:t>
            </a:r>
            <a:endParaRPr sz="1500"/>
          </a:p>
          <a:p>
            <a:pPr indent="-279400" lvl="0" marL="457200" rtl="0" algn="l">
              <a:spcBef>
                <a:spcPts val="1200"/>
              </a:spcBef>
              <a:spcAft>
                <a:spcPts val="0"/>
              </a:spcAft>
              <a:buClr>
                <a:srgbClr val="000000"/>
              </a:buClr>
              <a:buSzPts val="800"/>
              <a:buFont typeface="Arial"/>
              <a:buChar char="●"/>
            </a:pPr>
            <a:r>
              <a:rPr lang="en" sz="1500"/>
              <a:t>FactCC: </a:t>
            </a:r>
            <a:endParaRPr sz="1500"/>
          </a:p>
          <a:p>
            <a:pPr indent="-279400" lvl="1" marL="914400" rtl="0" algn="l">
              <a:spcBef>
                <a:spcPts val="0"/>
              </a:spcBef>
              <a:spcAft>
                <a:spcPts val="0"/>
              </a:spcAft>
              <a:buClr>
                <a:srgbClr val="000000"/>
              </a:buClr>
              <a:buSzPts val="800"/>
              <a:buFont typeface="Arial"/>
              <a:buAutoNum type="alphaLcPeriod"/>
            </a:pPr>
            <a:r>
              <a:rPr lang="en" sz="1500"/>
              <a:t>P(Consistent | article, candidate)</a:t>
            </a:r>
            <a:endParaRPr sz="1500"/>
          </a:p>
          <a:p>
            <a:pPr indent="-279400" lvl="0" marL="457200" rtl="0" algn="l">
              <a:spcBef>
                <a:spcPts val="0"/>
              </a:spcBef>
              <a:spcAft>
                <a:spcPts val="0"/>
              </a:spcAft>
              <a:buClr>
                <a:srgbClr val="000000"/>
              </a:buClr>
              <a:buSzPts val="800"/>
              <a:buFont typeface="Arial"/>
              <a:buChar char="●"/>
            </a:pPr>
            <a:r>
              <a:rPr lang="en" sz="1500"/>
              <a:t>RoBERTa‑MNLI: </a:t>
            </a:r>
            <a:endParaRPr sz="1500"/>
          </a:p>
          <a:p>
            <a:pPr indent="-279400" lvl="1" marL="914400" rtl="0" algn="l">
              <a:spcBef>
                <a:spcPts val="0"/>
              </a:spcBef>
              <a:spcAft>
                <a:spcPts val="0"/>
              </a:spcAft>
              <a:buClr>
                <a:srgbClr val="000000"/>
              </a:buClr>
              <a:buSzPts val="800"/>
              <a:buFont typeface="Arial"/>
              <a:buAutoNum type="alphaLcPeriod"/>
            </a:pPr>
            <a:r>
              <a:rPr lang="en" sz="1500"/>
              <a:t>P(Entailment∣a,c)P(Entailment∣a,c) (for ablation).</a:t>
            </a:r>
            <a:endParaRPr sz="1500"/>
          </a:p>
          <a:p>
            <a:pPr indent="0" lvl="0" marL="0" rtl="0" algn="l">
              <a:spcBef>
                <a:spcPts val="1200"/>
              </a:spcBef>
              <a:spcAft>
                <a:spcPts val="0"/>
              </a:spcAft>
              <a:buNone/>
            </a:pPr>
            <a:r>
              <a:rPr lang="en" sz="1500"/>
              <a:t>Choose c∗=arg⁡max⁡ciscoreFactCC(a,ci)c∗=argmaxci​​scoreFactCC​(a,ci​).</a:t>
            </a:r>
            <a:endParaRPr sz="1500"/>
          </a:p>
          <a:p>
            <a:pPr indent="0" lvl="0" marL="0" rtl="0" algn="l">
              <a:spcBef>
                <a:spcPts val="1200"/>
              </a:spcBef>
              <a:spcAft>
                <a:spcPts val="1200"/>
              </a:spcAft>
              <a:buNone/>
            </a:pPr>
            <a:r>
              <a:t/>
            </a:r>
            <a:endParaRPr/>
          </a:p>
        </p:txBody>
      </p:sp>
      <p:pic>
        <p:nvPicPr>
          <p:cNvPr id="107" name="Google Shape;107;p16" title="Gemini_Generated_Image_1wk8lm1wk8lm1wk8.png"/>
          <p:cNvPicPr preferRelativeResize="0"/>
          <p:nvPr/>
        </p:nvPicPr>
        <p:blipFill>
          <a:blip r:embed="rId3">
            <a:alphaModFix/>
          </a:blip>
          <a:stretch>
            <a:fillRect/>
          </a:stretch>
        </p:blipFill>
        <p:spPr>
          <a:xfrm>
            <a:off x="4843500" y="1195525"/>
            <a:ext cx="3911224" cy="3667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442900" y="333100"/>
            <a:ext cx="7516500" cy="4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600"/>
              <a:t>BART + FactCC / Experimental Setup</a:t>
            </a:r>
            <a:endParaRPr sz="2600"/>
          </a:p>
        </p:txBody>
      </p:sp>
      <p:sp>
        <p:nvSpPr>
          <p:cNvPr id="113" name="Google Shape;113;p17"/>
          <p:cNvSpPr txBox="1"/>
          <p:nvPr>
            <p:ph idx="1" type="body"/>
          </p:nvPr>
        </p:nvSpPr>
        <p:spPr>
          <a:xfrm>
            <a:off x="183525" y="764500"/>
            <a:ext cx="4880400" cy="3076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300">
                <a:latin typeface="Arial"/>
                <a:ea typeface="Arial"/>
                <a:cs typeface="Arial"/>
                <a:sym typeface="Arial"/>
              </a:rPr>
              <a:t>Models </a:t>
            </a:r>
            <a:endParaRPr b="1" sz="1300">
              <a:latin typeface="Arial"/>
              <a:ea typeface="Arial"/>
              <a:cs typeface="Arial"/>
              <a:sym typeface="Arial"/>
            </a:endParaRPr>
          </a:p>
          <a:p>
            <a:pPr indent="-311150" lvl="0" marL="457200" rtl="0" algn="l">
              <a:spcBef>
                <a:spcPts val="1200"/>
              </a:spcBef>
              <a:spcAft>
                <a:spcPts val="0"/>
              </a:spcAft>
              <a:buClr>
                <a:schemeClr val="dk1"/>
              </a:buClr>
              <a:buSzPts val="1300"/>
              <a:buFont typeface="Arial"/>
              <a:buChar char="●"/>
            </a:pPr>
            <a:r>
              <a:rPr b="1" lang="en" sz="1300">
                <a:latin typeface="Arial"/>
                <a:ea typeface="Arial"/>
                <a:cs typeface="Arial"/>
                <a:sym typeface="Arial"/>
              </a:rPr>
              <a:t>Generator: facebook/bart-base (fine-tuned on 20k CNN/DM, 3 epochs, lr=5e-5) - </a:t>
            </a:r>
            <a:endParaRPr b="1" sz="1300">
              <a:latin typeface="Arial"/>
              <a:ea typeface="Arial"/>
              <a:cs typeface="Arial"/>
              <a:sym typeface="Arial"/>
            </a:endParaRPr>
          </a:p>
          <a:p>
            <a:pPr indent="-311150" lvl="1" marL="914400" rtl="0" algn="l">
              <a:spcBef>
                <a:spcPts val="0"/>
              </a:spcBef>
              <a:spcAft>
                <a:spcPts val="0"/>
              </a:spcAft>
              <a:buClr>
                <a:schemeClr val="dk1"/>
              </a:buClr>
              <a:buSzPts val="1300"/>
              <a:buFont typeface="Arial"/>
              <a:buAutoNum type="alphaLcPeriod"/>
            </a:pPr>
            <a:r>
              <a:rPr b="1" lang="en" sz="1300">
                <a:latin typeface="Arial"/>
                <a:ea typeface="Arial"/>
                <a:cs typeface="Arial"/>
                <a:sym typeface="Arial"/>
              </a:rPr>
              <a:t>Verifier A: FactCC (factual consistency) - </a:t>
            </a:r>
            <a:endParaRPr b="1" sz="1300">
              <a:latin typeface="Arial"/>
              <a:ea typeface="Arial"/>
              <a:cs typeface="Arial"/>
              <a:sym typeface="Arial"/>
            </a:endParaRPr>
          </a:p>
          <a:p>
            <a:pPr indent="-311150" lvl="1" marL="914400" rtl="0" algn="l">
              <a:spcBef>
                <a:spcPts val="0"/>
              </a:spcBef>
              <a:spcAft>
                <a:spcPts val="0"/>
              </a:spcAft>
              <a:buClr>
                <a:schemeClr val="dk1"/>
              </a:buClr>
              <a:buSzPts val="1300"/>
              <a:buFont typeface="Arial"/>
              <a:buAutoNum type="alphaLcPeriod"/>
            </a:pPr>
            <a:r>
              <a:rPr b="1" lang="en" sz="1300">
                <a:latin typeface="Arial"/>
                <a:ea typeface="Arial"/>
                <a:cs typeface="Arial"/>
                <a:sym typeface="Arial"/>
              </a:rPr>
              <a:t>Verifier B: RoBERTa-MNLI (ablation) </a:t>
            </a:r>
            <a:endParaRPr b="1" sz="1300">
              <a:latin typeface="Arial"/>
              <a:ea typeface="Arial"/>
              <a:cs typeface="Arial"/>
              <a:sym typeface="Arial"/>
            </a:endParaRPr>
          </a:p>
          <a:p>
            <a:pPr indent="0" lvl="0" marL="0" rtl="0" algn="l">
              <a:spcBef>
                <a:spcPts val="1200"/>
              </a:spcBef>
              <a:spcAft>
                <a:spcPts val="0"/>
              </a:spcAft>
              <a:buNone/>
            </a:pPr>
            <a:r>
              <a:rPr b="1" lang="en" sz="1300">
                <a:latin typeface="Arial"/>
                <a:ea typeface="Arial"/>
                <a:cs typeface="Arial"/>
                <a:sym typeface="Arial"/>
              </a:rPr>
              <a:t>Data </a:t>
            </a:r>
            <a:endParaRPr b="1" sz="1300">
              <a:latin typeface="Arial"/>
              <a:ea typeface="Arial"/>
              <a:cs typeface="Arial"/>
              <a:sym typeface="Arial"/>
            </a:endParaRPr>
          </a:p>
          <a:p>
            <a:pPr indent="-311150" lvl="0" marL="457200" rtl="0" algn="l">
              <a:spcBef>
                <a:spcPts val="1200"/>
              </a:spcBef>
              <a:spcAft>
                <a:spcPts val="0"/>
              </a:spcAft>
              <a:buSzPts val="1300"/>
              <a:buFont typeface="Arial"/>
              <a:buChar char="●"/>
            </a:pPr>
            <a:r>
              <a:rPr b="1" lang="en" sz="1300">
                <a:latin typeface="Arial"/>
                <a:ea typeface="Arial"/>
                <a:cs typeface="Arial"/>
                <a:sym typeface="Arial"/>
              </a:rPr>
              <a:t>Train: 20k subset (seed=42) - Val: 2k | Test: 11,490 </a:t>
            </a:r>
            <a:endParaRPr b="1" sz="1300">
              <a:latin typeface="Arial"/>
              <a:ea typeface="Arial"/>
              <a:cs typeface="Arial"/>
              <a:sym typeface="Arial"/>
            </a:endParaRPr>
          </a:p>
          <a:p>
            <a:pPr indent="0" lvl="0" marL="0" rtl="0" algn="l">
              <a:spcBef>
                <a:spcPts val="1200"/>
              </a:spcBef>
              <a:spcAft>
                <a:spcPts val="0"/>
              </a:spcAft>
              <a:buNone/>
            </a:pPr>
            <a:r>
              <a:rPr b="1" lang="en" sz="1300">
                <a:latin typeface="Arial"/>
                <a:ea typeface="Arial"/>
                <a:cs typeface="Arial"/>
                <a:sym typeface="Arial"/>
              </a:rPr>
              <a:t>Decoding </a:t>
            </a:r>
            <a:endParaRPr b="1" sz="1300">
              <a:latin typeface="Arial"/>
              <a:ea typeface="Arial"/>
              <a:cs typeface="Arial"/>
              <a:sym typeface="Arial"/>
            </a:endParaRPr>
          </a:p>
          <a:p>
            <a:pPr indent="-311150" lvl="0" marL="457200" rtl="0" algn="l">
              <a:spcBef>
                <a:spcPts val="1200"/>
              </a:spcBef>
              <a:spcAft>
                <a:spcPts val="0"/>
              </a:spcAft>
              <a:buSzPts val="1300"/>
              <a:buFont typeface="Arial"/>
              <a:buChar char="●"/>
            </a:pPr>
            <a:r>
              <a:rPr b="1" lang="en" sz="1300">
                <a:latin typeface="Arial"/>
                <a:ea typeface="Arial"/>
                <a:cs typeface="Arial"/>
                <a:sym typeface="Arial"/>
              </a:rPr>
              <a:t>Beam search, K=5, max length 140 </a:t>
            </a:r>
            <a:endParaRPr b="1" sz="1300">
              <a:latin typeface="Arial"/>
              <a:ea typeface="Arial"/>
              <a:cs typeface="Arial"/>
              <a:sym typeface="Arial"/>
            </a:endParaRPr>
          </a:p>
          <a:p>
            <a:pPr indent="0" lvl="0" marL="0" rtl="0" algn="l">
              <a:spcBef>
                <a:spcPts val="1200"/>
              </a:spcBef>
              <a:spcAft>
                <a:spcPts val="1200"/>
              </a:spcAft>
              <a:buNone/>
            </a:pPr>
            <a:r>
              <a:rPr b="1" lang="en" sz="1300">
                <a:latin typeface="Arial"/>
                <a:ea typeface="Arial"/>
                <a:cs typeface="Arial"/>
                <a:sym typeface="Arial"/>
              </a:rPr>
              <a:t>Success Criteria ✓ ΔFactCC ≥ +2.0 points ✓ ROUGE-L drop ≤ 1.0 point</a:t>
            </a:r>
            <a:endParaRPr sz="1400">
              <a:latin typeface="Arial"/>
              <a:ea typeface="Arial"/>
              <a:cs typeface="Arial"/>
              <a:sym typeface="Arial"/>
            </a:endParaRPr>
          </a:p>
        </p:txBody>
      </p:sp>
      <p:pic>
        <p:nvPicPr>
          <p:cNvPr id="114" name="Google Shape;114;p17" title="k_ablation_enhanced.png"/>
          <p:cNvPicPr preferRelativeResize="0"/>
          <p:nvPr/>
        </p:nvPicPr>
        <p:blipFill>
          <a:blip r:embed="rId3">
            <a:alphaModFix/>
          </a:blip>
          <a:stretch>
            <a:fillRect/>
          </a:stretch>
        </p:blipFill>
        <p:spPr>
          <a:xfrm>
            <a:off x="5393375" y="1627500"/>
            <a:ext cx="3562276" cy="3207350"/>
          </a:xfrm>
          <a:prstGeom prst="rect">
            <a:avLst/>
          </a:prstGeom>
          <a:noFill/>
          <a:ln>
            <a:noFill/>
          </a:ln>
        </p:spPr>
      </p:pic>
      <p:sp>
        <p:nvSpPr>
          <p:cNvPr id="115" name="Google Shape;115;p17"/>
          <p:cNvSpPr txBox="1"/>
          <p:nvPr/>
        </p:nvSpPr>
        <p:spPr>
          <a:xfrm>
            <a:off x="5427450" y="821350"/>
            <a:ext cx="3394800" cy="6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After analyzing  </a:t>
            </a:r>
            <a:r>
              <a:rPr lang="en" sz="1200">
                <a:solidFill>
                  <a:schemeClr val="dk1"/>
                </a:solidFill>
              </a:rPr>
              <a:t>K‑ablation shows strong gains up to ~3–5, with diminishing returns.</a:t>
            </a:r>
            <a:endParaRPr sz="8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Results </a:t>
            </a:r>
            <a:endParaRPr/>
          </a:p>
        </p:txBody>
      </p:sp>
      <p:sp>
        <p:nvSpPr>
          <p:cNvPr id="121" name="Google Shape;121;p18"/>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a:t>
            </a:r>
            <a:endParaRPr sz="800"/>
          </a:p>
          <a:p>
            <a:pPr indent="0" lvl="0" marL="0" rtl="0" algn="l">
              <a:spcBef>
                <a:spcPts val="0"/>
              </a:spcBef>
              <a:spcAft>
                <a:spcPts val="0"/>
              </a:spcAft>
              <a:buNone/>
            </a:pPr>
            <a:r>
              <a:rPr lang="en" sz="800"/>
              <a:t>│                   RESULTS: THE PARADOX                      │</a:t>
            </a:r>
            <a:endParaRPr sz="800"/>
          </a:p>
          <a:p>
            <a:pPr indent="0" lvl="0" marL="0" rtl="0" algn="l">
              <a:spcBef>
                <a:spcPts val="0"/>
              </a:spcBef>
              <a:spcAft>
                <a:spcPts val="0"/>
              </a:spcAft>
              <a:buNone/>
            </a:pPr>
            <a:r>
              <a:rPr lang="en" sz="800"/>
              <a:t>├─────────────────────────┬───────────────────────────────────┤</a:t>
            </a:r>
            <a:endParaRPr sz="800"/>
          </a:p>
          <a:p>
            <a:pPr indent="0" lvl="0" marL="0" rtl="0" algn="l">
              <a:spcBef>
                <a:spcPts val="0"/>
              </a:spcBef>
              <a:spcAft>
                <a:spcPts val="0"/>
              </a:spcAft>
              <a:buNone/>
            </a:pPr>
            <a:r>
              <a:rPr lang="en" sz="800"/>
              <a:t>│   AUTOMATIC METRICS     │      HUMAN EVALUATION             │</a:t>
            </a:r>
            <a:endParaRPr sz="800"/>
          </a:p>
          <a:p>
            <a:pPr indent="0" lvl="0" marL="0" rtl="0" algn="l">
              <a:spcBef>
                <a:spcPts val="0"/>
              </a:spcBef>
              <a:spcAft>
                <a:spcPts val="0"/>
              </a:spcAft>
              <a:buNone/>
            </a:pPr>
            <a:r>
              <a:rPr lang="en" sz="800"/>
              <a:t>│        ✅ WIN           │           ❌ LOSE                 │</a:t>
            </a:r>
            <a:endParaRPr sz="800"/>
          </a:p>
          <a:p>
            <a:pPr indent="0" lvl="0" marL="0" rtl="0" algn="l">
              <a:spcBef>
                <a:spcPts val="0"/>
              </a:spcBef>
              <a:spcAft>
                <a:spcPts val="0"/>
              </a:spcAft>
              <a:buNone/>
            </a:pPr>
            <a:r>
              <a:rPr lang="en" sz="800"/>
              <a:t>├─────────────────────────┼───────────────────────────────────┤</a:t>
            </a:r>
            <a:endParaRPr sz="800"/>
          </a:p>
          <a:p>
            <a:pPr indent="0" lvl="0" marL="0" rtl="0" algn="l">
              <a:spcBef>
                <a:spcPts val="0"/>
              </a:spcBef>
              <a:spcAft>
                <a:spcPts val="0"/>
              </a:spcAft>
              <a:buNone/>
            </a:pPr>
            <a:r>
              <a:rPr lang="en" sz="800"/>
              <a:t>│                         │                                   │</a:t>
            </a:r>
            <a:endParaRPr sz="800"/>
          </a:p>
          <a:p>
            <a:pPr indent="0" lvl="0" marL="0" rtl="0" algn="l">
              <a:spcBef>
                <a:spcPts val="0"/>
              </a:spcBef>
              <a:spcAft>
                <a:spcPts val="0"/>
              </a:spcAft>
              <a:buNone/>
            </a:pPr>
            <a:r>
              <a:rPr lang="en" sz="800"/>
              <a:t>│  FactCC: +54.8%         │  Human Preference:                │</a:t>
            </a:r>
            <a:endParaRPr sz="800"/>
          </a:p>
          <a:p>
            <a:pPr indent="0" lvl="0" marL="0" rtl="0" algn="l">
              <a:spcBef>
                <a:spcPts val="0"/>
              </a:spcBef>
              <a:spcAft>
                <a:spcPts val="0"/>
              </a:spcAft>
              <a:buNone/>
            </a:pPr>
            <a:r>
              <a:rPr lang="en" sz="800"/>
              <a:t>│  (0.43 → 0.66)          │    Baseline: 28%                  │</a:t>
            </a:r>
            <a:endParaRPr sz="800"/>
          </a:p>
          <a:p>
            <a:pPr indent="0" lvl="0" marL="0" rtl="0" algn="l">
              <a:spcBef>
                <a:spcPts val="0"/>
              </a:spcBef>
              <a:spcAft>
                <a:spcPts val="0"/>
              </a:spcAft>
              <a:buNone/>
            </a:pPr>
            <a:r>
              <a:rPr lang="en" sz="800"/>
              <a:t>│                         │    Reranked: 18%                  │</a:t>
            </a:r>
            <a:endParaRPr sz="800"/>
          </a:p>
          <a:p>
            <a:pPr indent="0" lvl="0" marL="0" rtl="0" algn="l">
              <a:spcBef>
                <a:spcPts val="0"/>
              </a:spcBef>
              <a:spcAft>
                <a:spcPts val="0"/>
              </a:spcAft>
              <a:buNone/>
            </a:pPr>
            <a:r>
              <a:rPr lang="en" sz="800"/>
              <a:t>│  ROUGE-L: -0.17 pts     │    Tie: 54%                       │</a:t>
            </a:r>
            <a:endParaRPr sz="800"/>
          </a:p>
          <a:p>
            <a:pPr indent="0" lvl="0" marL="0" rtl="0" algn="l">
              <a:spcBef>
                <a:spcPts val="0"/>
              </a:spcBef>
              <a:spcAft>
                <a:spcPts val="0"/>
              </a:spcAft>
              <a:buNone/>
            </a:pPr>
            <a:r>
              <a:rPr lang="en" sz="800"/>
              <a:t>│  (no significant drop)  │                                   │</a:t>
            </a:r>
            <a:endParaRPr sz="800"/>
          </a:p>
          <a:p>
            <a:pPr indent="0" lvl="0" marL="0" rtl="0" algn="l">
              <a:spcBef>
                <a:spcPts val="0"/>
              </a:spcBef>
              <a:spcAft>
                <a:spcPts val="0"/>
              </a:spcAft>
              <a:buNone/>
            </a:pPr>
            <a:r>
              <a:rPr lang="en" sz="800"/>
              <a:t>│                         │  Net hallucinations:              │</a:t>
            </a:r>
            <a:endParaRPr sz="800"/>
          </a:p>
          <a:p>
            <a:pPr indent="0" lvl="0" marL="0" rtl="0" algn="l">
              <a:spcBef>
                <a:spcPts val="0"/>
              </a:spcBef>
              <a:spcAft>
                <a:spcPts val="0"/>
              </a:spcAft>
              <a:buNone/>
            </a:pPr>
            <a:r>
              <a:rPr lang="en" sz="800"/>
              <a:t>│  Success criteria:      │    Fixed: 1                       │</a:t>
            </a:r>
            <a:endParaRPr sz="800"/>
          </a:p>
          <a:p>
            <a:pPr indent="0" lvl="0" marL="0" rtl="0" algn="l">
              <a:spcBef>
                <a:spcPts val="0"/>
              </a:spcBef>
              <a:spcAft>
                <a:spcPts val="0"/>
              </a:spcAft>
              <a:buNone/>
            </a:pPr>
            <a:r>
              <a:rPr lang="en" sz="800"/>
              <a:t>│  ΔFactCC ≥ +2.0 ✅      │    Introduced: 3                  │</a:t>
            </a:r>
            <a:endParaRPr sz="800"/>
          </a:p>
          <a:p>
            <a:pPr indent="0" lvl="0" marL="0" rtl="0" algn="l">
              <a:spcBef>
                <a:spcPts val="0"/>
              </a:spcBef>
              <a:spcAft>
                <a:spcPts val="0"/>
              </a:spcAft>
              <a:buNone/>
            </a:pPr>
            <a:r>
              <a:rPr lang="en" sz="800"/>
              <a:t>│  ΔROUGE-L ≤ -1.0 ✅     │    Net: -2 (worse)                │</a:t>
            </a:r>
            <a:endParaRPr sz="800"/>
          </a:p>
          <a:p>
            <a:pPr indent="0" lvl="0" marL="0" rtl="0" algn="l">
              <a:spcBef>
                <a:spcPts val="0"/>
              </a:spcBef>
              <a:spcAft>
                <a:spcPts val="0"/>
              </a:spcAft>
              <a:buNone/>
            </a:pPr>
            <a:r>
              <a:rPr lang="en" sz="800"/>
              <a:t>│                         │                         </a:t>
            </a:r>
            <a:endParaRPr sz="800"/>
          </a:p>
          <a:p>
            <a:pPr indent="0" lvl="0" marL="0" rtl="0" algn="l">
              <a:spcBef>
                <a:spcPts val="0"/>
              </a:spcBef>
              <a:spcAft>
                <a:spcPts val="0"/>
              </a:spcAft>
              <a:buNone/>
            </a:pPr>
            <a:r>
              <a:t/>
            </a:r>
            <a:endParaRPr sz="800"/>
          </a:p>
          <a:p>
            <a:pPr indent="0" lvl="0" marL="0" rtl="0" algn="l">
              <a:spcBef>
                <a:spcPts val="0"/>
              </a:spcBef>
              <a:spcAft>
                <a:spcPts val="0"/>
              </a:spcAft>
              <a:buNone/>
            </a:pPr>
            <a:r>
              <a:rPr lang="en" sz="800"/>
              <a:t>        "The metric improved. The summaries didn't."</a:t>
            </a:r>
            <a:endParaRPr sz="800"/>
          </a:p>
          <a:p>
            <a:pPr indent="0" lvl="0" marL="0" rtl="0" algn="l">
              <a:spcBef>
                <a:spcPts val="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idx="4294967295" type="title"/>
          </p:nvPr>
        </p:nvSpPr>
        <p:spPr>
          <a:xfrm>
            <a:off x="311700" y="372500"/>
            <a:ext cx="8520600" cy="73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Setting</a:t>
            </a:r>
            <a:endParaRPr/>
          </a:p>
        </p:txBody>
      </p:sp>
      <p:sp>
        <p:nvSpPr>
          <p:cNvPr id="127" name="Google Shape;127;p19"/>
          <p:cNvSpPr txBox="1"/>
          <p:nvPr>
            <p:ph idx="4294967295" type="body"/>
          </p:nvPr>
        </p:nvSpPr>
        <p:spPr>
          <a:xfrm>
            <a:off x="311700" y="1025276"/>
            <a:ext cx="3853200" cy="524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t>. </a:t>
            </a:r>
            <a:r>
              <a:rPr lang="en" sz="1100">
                <a:latin typeface="Roboto Mono"/>
                <a:ea typeface="Roboto Mono"/>
                <a:cs typeface="Roboto Mono"/>
                <a:sym typeface="Roboto Mono"/>
              </a:rPr>
              <a:t>df[df['changed']==True].sample(30)</a:t>
            </a:r>
            <a:r>
              <a:rPr lang="en" sz="1100">
                <a:latin typeface="Arial"/>
                <a:ea typeface="Arial"/>
                <a:cs typeface="Arial"/>
                <a:sym typeface="Arial"/>
              </a:rPr>
              <a:t> and </a:t>
            </a:r>
            <a:r>
              <a:rPr lang="en" sz="1100">
                <a:latin typeface="Roboto Mono"/>
                <a:ea typeface="Roboto Mono"/>
                <a:cs typeface="Roboto Mono"/>
                <a:sym typeface="Roboto Mono"/>
              </a:rPr>
              <a:t>df[df['changed']==False].sample(20)</a:t>
            </a:r>
            <a:endParaRPr sz="2400">
              <a:solidFill>
                <a:schemeClr val="accent5"/>
              </a:solidFill>
            </a:endParaRPr>
          </a:p>
        </p:txBody>
      </p:sp>
      <p:cxnSp>
        <p:nvCxnSpPr>
          <p:cNvPr id="128" name="Google Shape;128;p19"/>
          <p:cNvCxnSpPr/>
          <p:nvPr/>
        </p:nvCxnSpPr>
        <p:spPr>
          <a:xfrm>
            <a:off x="418675" y="1811883"/>
            <a:ext cx="270900" cy="0"/>
          </a:xfrm>
          <a:prstGeom prst="straightConnector1">
            <a:avLst/>
          </a:prstGeom>
          <a:noFill/>
          <a:ln cap="flat" cmpd="sng" w="9525">
            <a:solidFill>
              <a:schemeClr val="lt2"/>
            </a:solidFill>
            <a:prstDash val="solid"/>
            <a:round/>
            <a:headEnd len="sm" w="sm" type="none"/>
            <a:tailEnd len="sm" w="sm" type="none"/>
          </a:ln>
        </p:spPr>
      </p:cxnSp>
      <p:sp>
        <p:nvSpPr>
          <p:cNvPr id="129" name="Google Shape;129;p19"/>
          <p:cNvSpPr txBox="1"/>
          <p:nvPr>
            <p:ph idx="4294967295" type="body"/>
          </p:nvPr>
        </p:nvSpPr>
        <p:spPr>
          <a:xfrm>
            <a:off x="7874950" y="2138050"/>
            <a:ext cx="458700" cy="678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latin typeface="Roboto Mono"/>
              <a:ea typeface="Roboto Mono"/>
              <a:cs typeface="Roboto Mono"/>
              <a:sym typeface="Roboto Mono"/>
            </a:endParaRPr>
          </a:p>
          <a:p>
            <a:pPr indent="0" lvl="0" marL="0" rtl="0" algn="l">
              <a:spcBef>
                <a:spcPts val="1600"/>
              </a:spcBef>
              <a:spcAft>
                <a:spcPts val="0"/>
              </a:spcAft>
              <a:buNone/>
            </a:pPr>
            <a:r>
              <a:t/>
            </a:r>
            <a:endParaRPr sz="1100">
              <a:latin typeface="Roboto Mono"/>
              <a:ea typeface="Roboto Mono"/>
              <a:cs typeface="Roboto Mono"/>
              <a:sym typeface="Roboto Mono"/>
            </a:endParaRPr>
          </a:p>
          <a:p>
            <a:pPr indent="0" lvl="0" marL="0" rtl="0" algn="l">
              <a:spcBef>
                <a:spcPts val="1600"/>
              </a:spcBef>
              <a:spcAft>
                <a:spcPts val="1600"/>
              </a:spcAft>
              <a:buNone/>
            </a:pPr>
            <a:r>
              <a:t/>
            </a:r>
            <a:endParaRPr sz="1100">
              <a:latin typeface="Roboto Mono"/>
              <a:ea typeface="Roboto Mono"/>
              <a:cs typeface="Roboto Mono"/>
              <a:sym typeface="Roboto Mono"/>
            </a:endParaRPr>
          </a:p>
        </p:txBody>
      </p:sp>
      <p:sp>
        <p:nvSpPr>
          <p:cNvPr id="130" name="Google Shape;130;p19"/>
          <p:cNvSpPr txBox="1"/>
          <p:nvPr>
            <p:ph idx="4294967295" type="body"/>
          </p:nvPr>
        </p:nvSpPr>
        <p:spPr>
          <a:xfrm>
            <a:off x="4905825" y="372494"/>
            <a:ext cx="3853200" cy="524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i="1" lang="en" sz="2400">
                <a:solidFill>
                  <a:schemeClr val="accent5"/>
                </a:solidFill>
              </a:rPr>
              <a:t>N = 50</a:t>
            </a:r>
            <a:r>
              <a:rPr lang="en" sz="2400">
                <a:solidFill>
                  <a:schemeClr val="accent5"/>
                </a:solidFill>
              </a:rPr>
              <a:t> human audit</a:t>
            </a:r>
            <a:endParaRPr sz="2400">
              <a:solidFill>
                <a:schemeClr val="accent5"/>
              </a:solidFill>
            </a:endParaRPr>
          </a:p>
        </p:txBody>
      </p:sp>
      <p:cxnSp>
        <p:nvCxnSpPr>
          <p:cNvPr id="131" name="Google Shape;131;p19"/>
          <p:cNvCxnSpPr/>
          <p:nvPr/>
        </p:nvCxnSpPr>
        <p:spPr>
          <a:xfrm>
            <a:off x="5012725" y="1811883"/>
            <a:ext cx="270900" cy="0"/>
          </a:xfrm>
          <a:prstGeom prst="straightConnector1">
            <a:avLst/>
          </a:prstGeom>
          <a:noFill/>
          <a:ln cap="flat" cmpd="sng" w="9525">
            <a:solidFill>
              <a:schemeClr val="lt2"/>
            </a:solidFill>
            <a:prstDash val="solid"/>
            <a:round/>
            <a:headEnd len="sm" w="sm" type="none"/>
            <a:tailEnd len="sm" w="sm" type="none"/>
          </a:ln>
        </p:spPr>
      </p:cxnSp>
      <p:sp>
        <p:nvSpPr>
          <p:cNvPr id="132" name="Google Shape;132;p19"/>
          <p:cNvSpPr txBox="1"/>
          <p:nvPr>
            <p:ph idx="4294967295" type="body"/>
          </p:nvPr>
        </p:nvSpPr>
        <p:spPr>
          <a:xfrm>
            <a:off x="4394325" y="1916325"/>
            <a:ext cx="4364700" cy="27531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SzPts val="1500"/>
              <a:buFont typeface="Arial"/>
              <a:buChar char="●"/>
            </a:pPr>
            <a:r>
              <a:rPr lang="en" sz="1500">
                <a:latin typeface="Arial"/>
                <a:ea typeface="Arial"/>
                <a:cs typeface="Arial"/>
                <a:sym typeface="Arial"/>
              </a:rPr>
              <a:t>50 test examples: </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30 where baseline vs rerank disagree</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20 where they agree</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Human (Single Annotator) preference:</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Tie: 27 (54%)</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Baseline preferred: 14 (28%)</a:t>
            </a:r>
            <a:endParaRPr sz="1500">
              <a:latin typeface="Arial"/>
              <a:ea typeface="Arial"/>
              <a:cs typeface="Arial"/>
              <a:sym typeface="Arial"/>
            </a:endParaRPr>
          </a:p>
          <a:p>
            <a:pPr indent="-323850" lvl="1" marL="914400" rtl="0" algn="l">
              <a:spcBef>
                <a:spcPts val="0"/>
              </a:spcBef>
              <a:spcAft>
                <a:spcPts val="0"/>
              </a:spcAft>
              <a:buSzPts val="1500"/>
              <a:buFont typeface="Arial"/>
              <a:buChar char="○"/>
            </a:pPr>
            <a:r>
              <a:rPr lang="en" sz="1500">
                <a:latin typeface="Arial"/>
                <a:ea typeface="Arial"/>
                <a:cs typeface="Arial"/>
                <a:sym typeface="Arial"/>
              </a:rPr>
              <a:t>Reranked preferred: 9 (18%)</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Net hallucination effect: reranker fixes 1 error, introduces 3 → </a:t>
            </a:r>
            <a:r>
              <a:rPr b="1" i="1" lang="en" sz="1500" u="sng">
                <a:latin typeface="Arial"/>
                <a:ea typeface="Arial"/>
                <a:cs typeface="Arial"/>
                <a:sym typeface="Arial"/>
              </a:rPr>
              <a:t>Net −2</a:t>
            </a:r>
            <a:endParaRPr b="1" i="1" sz="1500" u="sng">
              <a:latin typeface="Arial"/>
              <a:ea typeface="Arial"/>
              <a:cs typeface="Arial"/>
              <a:sym typeface="Arial"/>
            </a:endParaRPr>
          </a:p>
          <a:p>
            <a:pPr indent="0" lvl="0" marL="0" rtl="0" algn="l">
              <a:spcBef>
                <a:spcPts val="1200"/>
              </a:spcBef>
              <a:spcAft>
                <a:spcPts val="1600"/>
              </a:spcAft>
              <a:buNone/>
            </a:pPr>
            <a:r>
              <a:t/>
            </a:r>
            <a:endParaRPr sz="1400"/>
          </a:p>
        </p:txBody>
      </p:sp>
      <p:pic>
        <p:nvPicPr>
          <p:cNvPr id="133" name="Google Shape;133;p19" title="fig4_key_insight.png"/>
          <p:cNvPicPr preferRelativeResize="0"/>
          <p:nvPr/>
        </p:nvPicPr>
        <p:blipFill>
          <a:blip r:embed="rId3">
            <a:alphaModFix/>
          </a:blip>
          <a:stretch>
            <a:fillRect/>
          </a:stretch>
        </p:blipFill>
        <p:spPr>
          <a:xfrm>
            <a:off x="311700" y="2220475"/>
            <a:ext cx="3962424" cy="2529600"/>
          </a:xfrm>
          <a:prstGeom prst="rect">
            <a:avLst/>
          </a:prstGeom>
          <a:noFill/>
          <a:ln>
            <a:noFill/>
          </a:ln>
        </p:spPr>
      </p:pic>
      <p:sp>
        <p:nvSpPr>
          <p:cNvPr id="134" name="Google Shape;134;p19"/>
          <p:cNvSpPr txBox="1"/>
          <p:nvPr/>
        </p:nvSpPr>
        <p:spPr>
          <a:xfrm>
            <a:off x="3719325" y="939100"/>
            <a:ext cx="5080200" cy="8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Roboto"/>
                <a:ea typeface="Roboto"/>
                <a:cs typeface="Roboto"/>
                <a:sym typeface="Roboto"/>
              </a:rPr>
              <a:t>For</a:t>
            </a:r>
            <a:r>
              <a:rPr lang="en" sz="1300">
                <a:solidFill>
                  <a:schemeClr val="dk1"/>
                </a:solidFill>
                <a:latin typeface="Roboto"/>
                <a:ea typeface="Roboto"/>
                <a:cs typeface="Roboto"/>
                <a:sym typeface="Roboto"/>
              </a:rPr>
              <a:t> this project, a </a:t>
            </a:r>
            <a:r>
              <a:rPr b="1" i="1" lang="en" sz="1300" u="sng">
                <a:solidFill>
                  <a:schemeClr val="dk1"/>
                </a:solidFill>
                <a:latin typeface="Roboto"/>
                <a:ea typeface="Roboto"/>
                <a:cs typeface="Roboto"/>
                <a:sym typeface="Roboto"/>
              </a:rPr>
              <a:t>hallucination</a:t>
            </a:r>
            <a:r>
              <a:rPr lang="en" sz="1300">
                <a:solidFill>
                  <a:schemeClr val="dk1"/>
                </a:solidFill>
                <a:latin typeface="Roboto"/>
                <a:ea typeface="Roboto"/>
                <a:cs typeface="Roboto"/>
                <a:sym typeface="Roboto"/>
              </a:rPr>
              <a:t> is any statement in the summary that is not supported by, or contradicts, the source article, including entity, event, temporal, and out‑of‑thin‑air errors.</a:t>
            </a:r>
            <a:endParaRPr sz="13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299925" y="350050"/>
            <a:ext cx="8108400" cy="65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300"/>
              <a:t>When Reranking Helps vs Hurts</a:t>
            </a:r>
            <a:endParaRPr sz="2300"/>
          </a:p>
        </p:txBody>
      </p:sp>
      <p:sp>
        <p:nvSpPr>
          <p:cNvPr id="140" name="Google Shape;140;p20"/>
          <p:cNvSpPr txBox="1"/>
          <p:nvPr/>
        </p:nvSpPr>
        <p:spPr>
          <a:xfrm>
            <a:off x="299925" y="4471125"/>
            <a:ext cx="8522400" cy="51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Verifier (FactCC) isn't actually checking facts it's just checking for patterns.</a:t>
            </a:r>
            <a:endParaRPr sz="1800">
              <a:solidFill>
                <a:schemeClr val="dk1"/>
              </a:solidFill>
              <a:latin typeface="Roboto"/>
              <a:ea typeface="Roboto"/>
              <a:cs typeface="Roboto"/>
              <a:sym typeface="Roboto"/>
            </a:endParaRPr>
          </a:p>
        </p:txBody>
      </p:sp>
      <p:sp>
        <p:nvSpPr>
          <p:cNvPr id="141" name="Google Shape;141;p20"/>
          <p:cNvSpPr txBox="1"/>
          <p:nvPr/>
        </p:nvSpPr>
        <p:spPr>
          <a:xfrm>
            <a:off x="554400" y="1006150"/>
            <a:ext cx="3249300" cy="3341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rPr>
              <a:t>The Success (</a:t>
            </a:r>
            <a:r>
              <a:rPr b="1" lang="en" sz="1100">
                <a:solidFill>
                  <a:srgbClr val="FFFF00"/>
                </a:solidFill>
              </a:rPr>
              <a:t>Logic Repair)</a:t>
            </a:r>
            <a:endParaRPr b="1" sz="1100">
              <a:solidFill>
                <a:srgbClr val="FFFF00"/>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Context:</a:t>
            </a:r>
            <a:r>
              <a:rPr lang="en" sz="1100">
                <a:solidFill>
                  <a:schemeClr val="dk1"/>
                </a:solidFill>
              </a:rPr>
              <a:t> Refugees formed a human chain to stop attackers.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u="sng">
                <a:solidFill>
                  <a:schemeClr val="accent4"/>
                </a:solidFill>
              </a:rPr>
              <a:t>Baseline</a:t>
            </a:r>
            <a:r>
              <a:rPr b="1" lang="en" sz="1100">
                <a:solidFill>
                  <a:schemeClr val="dk1"/>
                </a:solidFill>
              </a:rPr>
              <a:t> (The Mistake):</a:t>
            </a:r>
            <a:r>
              <a:rPr lang="en" sz="1100">
                <a:solidFill>
                  <a:schemeClr val="dk1"/>
                </a:solidFill>
              </a:rPr>
              <a:t> </a:t>
            </a:r>
            <a:r>
              <a:rPr i="1" lang="en" sz="1100">
                <a:solidFill>
                  <a:schemeClr val="dk1"/>
                </a:solidFill>
              </a:rPr>
              <a:t>"15 men arrested... But were </a:t>
            </a:r>
            <a:r>
              <a:rPr b="1" i="1" lang="en" sz="1100">
                <a:solidFill>
                  <a:schemeClr val="dk1"/>
                </a:solidFill>
              </a:rPr>
              <a:t>prevented</a:t>
            </a:r>
            <a:r>
              <a:rPr i="1" lang="en" sz="1100">
                <a:solidFill>
                  <a:schemeClr val="dk1"/>
                </a:solidFill>
              </a:rPr>
              <a:t> [from being arrested] because they huddled together..."</a:t>
            </a:r>
            <a:endParaRPr i="1" sz="1100">
              <a:solidFill>
                <a:schemeClr val="dk1"/>
              </a:solidFill>
            </a:endParaRPr>
          </a:p>
          <a:p>
            <a:pPr indent="-298450" lvl="1" marL="914400" rtl="0" algn="l">
              <a:lnSpc>
                <a:spcPct val="115000"/>
              </a:lnSpc>
              <a:spcBef>
                <a:spcPts val="0"/>
              </a:spcBef>
              <a:spcAft>
                <a:spcPts val="0"/>
              </a:spcAft>
              <a:buClr>
                <a:schemeClr val="dk1"/>
              </a:buClr>
              <a:buSzPts val="1100"/>
              <a:buChar char="○"/>
            </a:pPr>
            <a:r>
              <a:rPr i="1" lang="en" sz="1100">
                <a:solidFill>
                  <a:schemeClr val="dk1"/>
                </a:solidFill>
              </a:rPr>
              <a:t>Status:</a:t>
            </a:r>
            <a:r>
              <a:rPr lang="en" sz="1100">
                <a:solidFill>
                  <a:schemeClr val="dk1"/>
                </a:solidFill>
              </a:rPr>
              <a:t>  </a:t>
            </a:r>
            <a:r>
              <a:rPr b="1" i="1" lang="en" sz="1100" u="sng">
                <a:solidFill>
                  <a:srgbClr val="FF0000"/>
                </a:solidFill>
              </a:rPr>
              <a:t>Logical Error</a:t>
            </a:r>
            <a:r>
              <a:rPr i="1" lang="en" sz="1100" u="sng">
                <a:solidFill>
                  <a:srgbClr val="FF0000"/>
                </a:solidFill>
              </a:rPr>
              <a:t> </a:t>
            </a:r>
            <a:r>
              <a:rPr lang="en" sz="1100">
                <a:solidFill>
                  <a:schemeClr val="dk1"/>
                </a:solidFill>
              </a:rPr>
              <a:t>(Implies the chain stopped the police).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u="sng">
                <a:solidFill>
                  <a:schemeClr val="accent2"/>
                </a:solidFill>
              </a:rPr>
              <a:t>Reranked (The Fix)</a:t>
            </a:r>
            <a:r>
              <a:rPr b="1" lang="en" sz="1100">
                <a:solidFill>
                  <a:schemeClr val="dk1"/>
                </a:solidFill>
              </a:rPr>
              <a:t>:</a:t>
            </a:r>
            <a:r>
              <a:rPr lang="en" sz="1100">
                <a:solidFill>
                  <a:schemeClr val="dk1"/>
                </a:solidFill>
              </a:rPr>
              <a:t> </a:t>
            </a:r>
            <a:r>
              <a:rPr i="1" lang="en" sz="1100">
                <a:solidFill>
                  <a:schemeClr val="dk1"/>
                </a:solidFill>
              </a:rPr>
              <a:t>"...claimed the men tried to throw other Christians off... but were </a:t>
            </a:r>
            <a:r>
              <a:rPr b="1" i="1" lang="en" sz="1100">
                <a:solidFill>
                  <a:schemeClr val="dk1"/>
                </a:solidFill>
              </a:rPr>
              <a:t>prevented</a:t>
            </a:r>
            <a:r>
              <a:rPr i="1" lang="en" sz="1100">
                <a:solidFill>
                  <a:schemeClr val="dk1"/>
                </a:solidFill>
              </a:rPr>
              <a:t> [from doing so] because they huddled together..."</a:t>
            </a:r>
            <a:endParaRPr i="1" sz="1100">
              <a:solidFill>
                <a:schemeClr val="dk1"/>
              </a:solidFill>
            </a:endParaRPr>
          </a:p>
          <a:p>
            <a:pPr indent="-298450" lvl="1" marL="914400" rtl="0" algn="l">
              <a:lnSpc>
                <a:spcPct val="115000"/>
              </a:lnSpc>
              <a:spcBef>
                <a:spcPts val="0"/>
              </a:spcBef>
              <a:spcAft>
                <a:spcPts val="0"/>
              </a:spcAft>
              <a:buClr>
                <a:schemeClr val="dk1"/>
              </a:buClr>
              <a:buSzPts val="1100"/>
              <a:buChar char="○"/>
            </a:pPr>
            <a:r>
              <a:rPr i="1" lang="en" sz="1100">
                <a:solidFill>
                  <a:schemeClr val="dk1"/>
                </a:solidFill>
              </a:rPr>
              <a:t>Status:</a:t>
            </a:r>
            <a:r>
              <a:rPr lang="en" sz="1100">
                <a:solidFill>
                  <a:schemeClr val="dk1"/>
                </a:solidFill>
              </a:rPr>
              <a:t> </a:t>
            </a:r>
            <a:r>
              <a:rPr b="1" lang="en" sz="1100">
                <a:solidFill>
                  <a:schemeClr val="accent2"/>
                </a:solidFill>
              </a:rPr>
              <a:t>Corrected</a:t>
            </a:r>
            <a:r>
              <a:rPr lang="en" sz="1100">
                <a:solidFill>
                  <a:schemeClr val="dk1"/>
                </a:solidFill>
              </a:rPr>
              <a:t> (The verifier caught the causal mismatch).</a:t>
            </a:r>
            <a:endParaRPr sz="1100">
              <a:solidFill>
                <a:schemeClr val="dk1"/>
              </a:solidFill>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
        <p:nvSpPr>
          <p:cNvPr id="142" name="Google Shape;142;p20"/>
          <p:cNvSpPr txBox="1"/>
          <p:nvPr/>
        </p:nvSpPr>
        <p:spPr>
          <a:xfrm>
            <a:off x="4835625" y="1113175"/>
            <a:ext cx="3572700" cy="320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solidFill>
                  <a:schemeClr val="dk1"/>
                </a:solidFill>
              </a:rPr>
              <a:t>The Failure </a:t>
            </a:r>
            <a:r>
              <a:rPr b="1" lang="en" sz="1100">
                <a:solidFill>
                  <a:srgbClr val="FF0000"/>
                </a:solidFill>
              </a:rPr>
              <a:t>(Hallucination)</a:t>
            </a:r>
            <a:endParaRPr b="1" sz="1100">
              <a:solidFill>
                <a:srgbClr val="FF0000"/>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Context:</a:t>
            </a:r>
            <a:r>
              <a:rPr lang="en" sz="1100">
                <a:solidFill>
                  <a:schemeClr val="dk1"/>
                </a:solidFill>
              </a:rPr>
              <a:t> A father hit his toddler; store owner gave video to police.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u="sng">
                <a:solidFill>
                  <a:schemeClr val="accent4"/>
                </a:solidFill>
              </a:rPr>
              <a:t>Baseline</a:t>
            </a:r>
            <a:r>
              <a:rPr b="1" lang="en" sz="1100">
                <a:solidFill>
                  <a:schemeClr val="dk1"/>
                </a:solidFill>
              </a:rPr>
              <a:t> (The Safe Bet):</a:t>
            </a:r>
            <a:r>
              <a:rPr lang="en" sz="1100">
                <a:solidFill>
                  <a:schemeClr val="dk1"/>
                </a:solidFill>
              </a:rPr>
              <a:t> </a:t>
            </a:r>
            <a:r>
              <a:rPr i="1" lang="en" sz="1100">
                <a:solidFill>
                  <a:schemeClr val="dk1"/>
                </a:solidFill>
              </a:rPr>
              <a:t>"Justin Whittington... was taken into custody... relationship not yet revealed..."</a:t>
            </a:r>
            <a:endParaRPr i="1" sz="1100">
              <a:solidFill>
                <a:schemeClr val="dk1"/>
              </a:solidFill>
            </a:endParaRPr>
          </a:p>
          <a:p>
            <a:pPr indent="-298450" lvl="1" marL="914400" rtl="0" algn="l">
              <a:lnSpc>
                <a:spcPct val="115000"/>
              </a:lnSpc>
              <a:spcBef>
                <a:spcPts val="0"/>
              </a:spcBef>
              <a:spcAft>
                <a:spcPts val="0"/>
              </a:spcAft>
              <a:buClr>
                <a:schemeClr val="dk1"/>
              </a:buClr>
              <a:buSzPts val="1100"/>
              <a:buChar char="○"/>
            </a:pPr>
            <a:r>
              <a:rPr i="1" lang="en" sz="1100">
                <a:solidFill>
                  <a:schemeClr val="dk1"/>
                </a:solidFill>
              </a:rPr>
              <a:t>Status:</a:t>
            </a:r>
            <a:r>
              <a:rPr lang="en" sz="1100">
                <a:solidFill>
                  <a:schemeClr val="dk1"/>
                </a:solidFill>
              </a:rPr>
              <a:t>  </a:t>
            </a:r>
            <a:r>
              <a:rPr b="1" i="1" lang="en" sz="1100" u="sng">
                <a:solidFill>
                  <a:schemeClr val="dk1"/>
                </a:solidFill>
              </a:rPr>
              <a:t>Boring but Factual</a:t>
            </a:r>
            <a:r>
              <a:rPr lang="en" sz="1100">
                <a:solidFill>
                  <a:schemeClr val="dk1"/>
                </a:solidFill>
              </a:rPr>
              <a:t> (Stuck to the text).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u="sng">
                <a:solidFill>
                  <a:schemeClr val="accent2"/>
                </a:solidFill>
              </a:rPr>
              <a:t>Reranked </a:t>
            </a:r>
            <a:r>
              <a:rPr b="1" lang="en" sz="1100">
                <a:solidFill>
                  <a:schemeClr val="dk1"/>
                </a:solidFill>
              </a:rPr>
              <a:t>(</a:t>
            </a:r>
            <a:r>
              <a:rPr b="1" lang="en" sz="1100">
                <a:solidFill>
                  <a:srgbClr val="FF0000"/>
                </a:solidFill>
              </a:rPr>
              <a:t>The Lie)</a:t>
            </a:r>
            <a:r>
              <a:rPr b="1" lang="en" sz="1100">
                <a:solidFill>
                  <a:schemeClr val="dk1"/>
                </a:solidFill>
              </a:rPr>
              <a:t>:</a:t>
            </a:r>
            <a:r>
              <a:rPr lang="en" sz="1100">
                <a:solidFill>
                  <a:schemeClr val="dk1"/>
                </a:solidFill>
              </a:rPr>
              <a:t> </a:t>
            </a:r>
            <a:r>
              <a:rPr i="1" lang="en" sz="1100">
                <a:solidFill>
                  <a:schemeClr val="dk1"/>
                </a:solidFill>
              </a:rPr>
              <a:t>"...Police were notified... and </a:t>
            </a:r>
            <a:r>
              <a:rPr b="1" i="1" lang="en" sz="1100">
                <a:solidFill>
                  <a:schemeClr val="dk1"/>
                </a:solidFill>
              </a:rPr>
              <a:t>asked the public for help identifying the man.</a:t>
            </a:r>
            <a:r>
              <a:rPr i="1" lang="en" sz="1100">
                <a:solidFill>
                  <a:schemeClr val="dk1"/>
                </a:solidFill>
              </a:rPr>
              <a:t>"</a:t>
            </a:r>
            <a:endParaRPr i="1" sz="1100">
              <a:solidFill>
                <a:schemeClr val="dk1"/>
              </a:solidFill>
            </a:endParaRPr>
          </a:p>
          <a:p>
            <a:pPr indent="-298450" lvl="1" marL="914400" rtl="0" algn="l">
              <a:lnSpc>
                <a:spcPct val="115000"/>
              </a:lnSpc>
              <a:spcBef>
                <a:spcPts val="0"/>
              </a:spcBef>
              <a:spcAft>
                <a:spcPts val="0"/>
              </a:spcAft>
              <a:buClr>
                <a:schemeClr val="dk1"/>
              </a:buClr>
              <a:buSzPts val="1100"/>
              <a:buChar char="○"/>
            </a:pPr>
            <a:r>
              <a:rPr i="1" lang="en" sz="1100">
                <a:solidFill>
                  <a:schemeClr val="dk1"/>
                </a:solidFill>
              </a:rPr>
              <a:t>Status:</a:t>
            </a:r>
            <a:r>
              <a:rPr lang="en" sz="1100">
                <a:solidFill>
                  <a:schemeClr val="dk1"/>
                </a:solidFill>
              </a:rPr>
              <a:t>  </a:t>
            </a:r>
            <a:r>
              <a:rPr b="1" lang="en" sz="1100">
                <a:solidFill>
                  <a:srgbClr val="FF0000"/>
                </a:solidFill>
              </a:rPr>
              <a:t>Hallucination </a:t>
            </a:r>
            <a:r>
              <a:rPr lang="en" sz="1100">
                <a:solidFill>
                  <a:schemeClr val="dk1"/>
                </a:solidFill>
              </a:rPr>
              <a:t>(The article never mentioned a public appeal).</a:t>
            </a:r>
            <a:endParaRPr sz="18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idx="2" type="body"/>
          </p:nvPr>
        </p:nvSpPr>
        <p:spPr>
          <a:xfrm>
            <a:off x="5123725" y="328325"/>
            <a:ext cx="3837000" cy="4105800"/>
          </a:xfrm>
          <a:prstGeom prst="rect">
            <a:avLst/>
          </a:prstGeom>
        </p:spPr>
        <p:txBody>
          <a:bodyPr anchorCtr="0" anchor="ctr" bIns="91425" lIns="91425" spcFirstLastPara="1" rIns="91425" wrap="square" tIns="91425">
            <a:noAutofit/>
          </a:bodyPr>
          <a:lstStyle/>
          <a:p>
            <a:pPr indent="-311150" lvl="0" marL="457200" rtl="0" algn="l">
              <a:spcBef>
                <a:spcPts val="1200"/>
              </a:spcBef>
              <a:spcAft>
                <a:spcPts val="0"/>
              </a:spcAft>
              <a:buClr>
                <a:schemeClr val="dk1"/>
              </a:buClr>
              <a:buSzPts val="1300"/>
              <a:buFont typeface="Arial"/>
              <a:buChar char="●"/>
            </a:pPr>
            <a:r>
              <a:rPr b="1" lang="en" sz="1300" u="sng">
                <a:latin typeface="Arial"/>
                <a:ea typeface="Arial"/>
                <a:cs typeface="Arial"/>
                <a:sym typeface="Arial"/>
              </a:rPr>
              <a:t>Lead bias</a:t>
            </a:r>
            <a:r>
              <a:rPr lang="en" sz="1300">
                <a:latin typeface="Arial"/>
                <a:ea typeface="Arial"/>
                <a:cs typeface="Arial"/>
                <a:sym typeface="Arial"/>
              </a:rPr>
              <a:t>: CNN/DailyMail favors early sentences; LEAD‑3 gets ROUGE‑L 24.91 (only 3.18 points below BART). Reranking often moves toward extractive “lead‑like” summaries without improving factuality.</a:t>
            </a:r>
            <a:endParaRPr sz="1300">
              <a:latin typeface="Arial"/>
              <a:ea typeface="Arial"/>
              <a:cs typeface="Arial"/>
              <a:sym typeface="Arial"/>
            </a:endParaRPr>
          </a:p>
          <a:p>
            <a:pPr indent="0" lvl="0" marL="457200" rtl="0" algn="l">
              <a:spcBef>
                <a:spcPts val="1200"/>
              </a:spcBef>
              <a:spcAft>
                <a:spcPts val="0"/>
              </a:spcAft>
              <a:buNone/>
            </a:pPr>
            <a:r>
              <a:t/>
            </a:r>
            <a:endParaRPr sz="1300">
              <a:latin typeface="Arial"/>
              <a:ea typeface="Arial"/>
              <a:cs typeface="Arial"/>
              <a:sym typeface="Arial"/>
            </a:endParaRPr>
          </a:p>
          <a:p>
            <a:pPr indent="-311150" lvl="0" marL="457200" rtl="0" algn="l">
              <a:spcBef>
                <a:spcPts val="1200"/>
              </a:spcBef>
              <a:spcAft>
                <a:spcPts val="0"/>
              </a:spcAft>
              <a:buClr>
                <a:schemeClr val="dk1"/>
              </a:buClr>
              <a:buSzPts val="1300"/>
              <a:buFont typeface="Arial"/>
              <a:buChar char="●"/>
            </a:pPr>
            <a:r>
              <a:rPr b="1" lang="en" sz="1300" u="sng">
                <a:latin typeface="Arial"/>
                <a:ea typeface="Arial"/>
                <a:cs typeface="Arial"/>
                <a:sym typeface="Arial"/>
              </a:rPr>
              <a:t>FactCC mis-scores paraphrases</a:t>
            </a:r>
            <a:r>
              <a:rPr lang="en" sz="1300" u="sng">
                <a:latin typeface="Arial"/>
                <a:ea typeface="Arial"/>
                <a:cs typeface="Arial"/>
                <a:sym typeface="Arial"/>
              </a:rPr>
              <a:t>:</a:t>
            </a:r>
            <a:r>
              <a:rPr lang="en" sz="1300">
                <a:latin typeface="Arial"/>
                <a:ea typeface="Arial"/>
                <a:cs typeface="Arial"/>
                <a:sym typeface="Arial"/>
              </a:rPr>
              <a:t> Penalizes legitimate paraphrasing, prefers extractive but slightly wrong spans.</a:t>
            </a:r>
            <a:endParaRPr sz="1300">
              <a:latin typeface="Arial"/>
              <a:ea typeface="Arial"/>
              <a:cs typeface="Arial"/>
              <a:sym typeface="Arial"/>
            </a:endParaRPr>
          </a:p>
          <a:p>
            <a:pPr indent="0" lvl="0" marL="457200" rtl="0" algn="l">
              <a:spcBef>
                <a:spcPts val="1200"/>
              </a:spcBef>
              <a:spcAft>
                <a:spcPts val="0"/>
              </a:spcAft>
              <a:buNone/>
            </a:pPr>
            <a:r>
              <a:t/>
            </a:r>
            <a:endParaRPr sz="1300">
              <a:latin typeface="Arial"/>
              <a:ea typeface="Arial"/>
              <a:cs typeface="Arial"/>
              <a:sym typeface="Arial"/>
            </a:endParaRPr>
          </a:p>
          <a:p>
            <a:pPr indent="-311150" lvl="0" marL="457200" rtl="0" algn="l">
              <a:spcBef>
                <a:spcPts val="1200"/>
              </a:spcBef>
              <a:spcAft>
                <a:spcPts val="0"/>
              </a:spcAft>
              <a:buClr>
                <a:schemeClr val="dk1"/>
              </a:buClr>
              <a:buSzPts val="1300"/>
              <a:buFont typeface="Arial"/>
              <a:buChar char="●"/>
            </a:pPr>
            <a:r>
              <a:rPr b="1" lang="en" sz="1300" u="sng">
                <a:latin typeface="Arial"/>
                <a:ea typeface="Arial"/>
                <a:cs typeface="Arial"/>
                <a:sym typeface="Arial"/>
              </a:rPr>
              <a:t>Limited beam diversity</a:t>
            </a:r>
            <a:r>
              <a:rPr lang="en" sz="1300">
                <a:latin typeface="Arial"/>
                <a:ea typeface="Arial"/>
                <a:cs typeface="Arial"/>
                <a:sym typeface="Arial"/>
              </a:rPr>
              <a:t>: in ~32% of audited examples all K=5 candidates had hallucinations → reranking cannot fix generator‑level failures.</a:t>
            </a:r>
            <a:endParaRPr sz="1300">
              <a:latin typeface="Arial"/>
              <a:ea typeface="Arial"/>
              <a:cs typeface="Arial"/>
              <a:sym typeface="Arial"/>
            </a:endParaRPr>
          </a:p>
        </p:txBody>
      </p:sp>
      <p:sp>
        <p:nvSpPr>
          <p:cNvPr id="148" name="Google Shape;148;p21"/>
          <p:cNvSpPr txBox="1"/>
          <p:nvPr>
            <p:ph type="title"/>
          </p:nvPr>
        </p:nvSpPr>
        <p:spPr>
          <a:xfrm>
            <a:off x="402200" y="150025"/>
            <a:ext cx="3735900" cy="71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Conclusion</a:t>
            </a:r>
            <a:endParaRPr/>
          </a:p>
        </p:txBody>
      </p:sp>
      <p:pic>
        <p:nvPicPr>
          <p:cNvPr id="149" name="Google Shape;149;p21" title="human_audit_detailed.png"/>
          <p:cNvPicPr preferRelativeResize="0"/>
          <p:nvPr/>
        </p:nvPicPr>
        <p:blipFill>
          <a:blip r:embed="rId3">
            <a:alphaModFix/>
          </a:blip>
          <a:stretch>
            <a:fillRect/>
          </a:stretch>
        </p:blipFill>
        <p:spPr>
          <a:xfrm>
            <a:off x="124325" y="968025"/>
            <a:ext cx="5416648" cy="3363675"/>
          </a:xfrm>
          <a:prstGeom prst="rect">
            <a:avLst/>
          </a:prstGeom>
          <a:noFill/>
          <a:ln>
            <a:noFill/>
          </a:ln>
        </p:spPr>
      </p:pic>
      <p:sp>
        <p:nvSpPr>
          <p:cNvPr id="150" name="Google Shape;150;p21"/>
          <p:cNvSpPr txBox="1"/>
          <p:nvPr/>
        </p:nvSpPr>
        <p:spPr>
          <a:xfrm>
            <a:off x="544050" y="4433900"/>
            <a:ext cx="8055900" cy="6303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Why:</a:t>
            </a:r>
            <a:r>
              <a:rPr lang="en" sz="1100">
                <a:solidFill>
                  <a:schemeClr val="dk1"/>
                </a:solidFill>
              </a:rPr>
              <a:t> Goodhart's Law. Once I made FactCC the optimization target, the system learned to game FactCC rather than be more truthful.</a:t>
            </a:r>
            <a:endParaRPr sz="18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490250" y="526350"/>
            <a:ext cx="7931100" cy="120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References &amp; Github</a:t>
            </a:r>
            <a:endParaRPr/>
          </a:p>
        </p:txBody>
      </p:sp>
      <p:sp>
        <p:nvSpPr>
          <p:cNvPr id="156" name="Google Shape;156;p22"/>
          <p:cNvSpPr txBox="1"/>
          <p:nvPr/>
        </p:nvSpPr>
        <p:spPr>
          <a:xfrm>
            <a:off x="771450" y="1706750"/>
            <a:ext cx="6682200" cy="2912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Lewis et al., 2020 – BART.</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Kryściński et al., 2020 – FactCC.</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Wang et al., 2020 – QAGS.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Zha et al., 2023 – AlignScore.</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Ji et al., 2023 – Hallucination survey.</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Dror et al., 2018 – Statistical significance.</a:t>
            </a:r>
            <a:endParaRPr sz="1800">
              <a:solidFill>
                <a:schemeClr val="dk1"/>
              </a:solidFill>
              <a:latin typeface="Roboto"/>
              <a:ea typeface="Roboto"/>
              <a:cs typeface="Roboto"/>
              <a:sym typeface="Roboto"/>
            </a:endParaRPr>
          </a:p>
          <a:p>
            <a:pPr indent="-342900" lvl="0" marL="457200" rtl="0" algn="l">
              <a:spcBef>
                <a:spcPts val="0"/>
              </a:spcBef>
              <a:spcAft>
                <a:spcPts val="0"/>
              </a:spcAft>
              <a:buClr>
                <a:schemeClr val="dk1"/>
              </a:buClr>
              <a:buSzPts val="1800"/>
              <a:buFont typeface="Roboto"/>
              <a:buChar char="●"/>
            </a:pPr>
            <a:r>
              <a:rPr lang="en" sz="1100" u="sng">
                <a:solidFill>
                  <a:schemeClr val="hlink"/>
                </a:solidFill>
                <a:hlinkClick r:id="rId3"/>
              </a:rPr>
              <a:t>https://github.com/rPowDS/MIDS266-NLP-final-project</a:t>
            </a:r>
            <a:endParaRPr sz="18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